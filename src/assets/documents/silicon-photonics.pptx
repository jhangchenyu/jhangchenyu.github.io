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Ubuntu"/>
      <p:regular r:id="rId36"/>
      <p:bold r:id="rId37"/>
      <p:italic r:id="rId38"/>
      <p:boldItalic r:id="rId39"/>
    </p:embeddedFont>
    <p:embeddedFont>
      <p:font typeface="PT Sans Narrow"/>
      <p:regular r:id="rId40"/>
      <p:bold r:id="rId41"/>
    </p:embeddedFont>
    <p:embeddedFont>
      <p:font typeface="Open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TSansNarrow-regular.fntdata"/><Relationship Id="rId20" Type="http://schemas.openxmlformats.org/officeDocument/2006/relationships/slide" Target="slides/slide15.xml"/><Relationship Id="rId42" Type="http://schemas.openxmlformats.org/officeDocument/2006/relationships/font" Target="fonts/OpenSans-regular.fntdata"/><Relationship Id="rId41" Type="http://schemas.openxmlformats.org/officeDocument/2006/relationships/font" Target="fonts/PTSansNarrow-bold.fntdata"/><Relationship Id="rId22" Type="http://schemas.openxmlformats.org/officeDocument/2006/relationships/slide" Target="slides/slide17.xml"/><Relationship Id="rId44" Type="http://schemas.openxmlformats.org/officeDocument/2006/relationships/font" Target="fonts/OpenSans-italic.fntdata"/><Relationship Id="rId21" Type="http://schemas.openxmlformats.org/officeDocument/2006/relationships/slide" Target="slides/slide16.xml"/><Relationship Id="rId43" Type="http://schemas.openxmlformats.org/officeDocument/2006/relationships/font" Target="fonts/OpenSans-bold.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OpenSa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Ubuntu-bold.fntdata"/><Relationship Id="rId14" Type="http://schemas.openxmlformats.org/officeDocument/2006/relationships/slide" Target="slides/slide9.xml"/><Relationship Id="rId36" Type="http://schemas.openxmlformats.org/officeDocument/2006/relationships/font" Target="fonts/Ubuntu-regular.fntdata"/><Relationship Id="rId17" Type="http://schemas.openxmlformats.org/officeDocument/2006/relationships/slide" Target="slides/slide12.xml"/><Relationship Id="rId39" Type="http://schemas.openxmlformats.org/officeDocument/2006/relationships/font" Target="fonts/Ubuntu-boldItalic.fntdata"/><Relationship Id="rId16" Type="http://schemas.openxmlformats.org/officeDocument/2006/relationships/slide" Target="slides/slide11.xml"/><Relationship Id="rId38" Type="http://schemas.openxmlformats.org/officeDocument/2006/relationships/font" Target="fonts/Ubuntu-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ef7d377288_0_6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g2ef7d377288_0_6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 name="Google Shape;71;g2ef7d377288_0_6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zh-TW"/>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eef77f21c2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eef77f21c2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eef77f21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eef77f21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eef77f21c2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eef77f21c2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ef7d377288_0_6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 name="Google Shape;103;g2ef7d377288_0_6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ef7d377288_0_6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g2ef7d377288_0_6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ef7d377288_0_6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g2ef7d377288_0_6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ef7d377288_0_7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g2ef7d377288_0_7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ef7d377288_0_7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g2ef7d377288_0_7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ef7d377288_0_7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g2ef7d377288_0_7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ef7d377288_0_7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g2ef7d377288_0_7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ef7d377288_0_7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g2ef7d377288_0_7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ef7d377288_0_7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g2ef7d377288_0_7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ef7d377288_0_7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g2ef7d377288_0_7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ef7d377288_0_7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g2ef7d377288_0_7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ef7d377288_0_7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g2ef7d377288_0_7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ef7d377288_0_7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g2ef7d377288_0_7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ef7d377288_0_8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g2ef7d377288_0_8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g2ef7d377288_0_8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zh-TW"/>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ef7d377288_0_8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5" name="Google Shape;265;g2ef7d377288_0_8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ef7d377288_0_8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g2ef7d377288_0_8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ef7d377288_0_8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g2ef7d377288_0_8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ef7d377288_0_8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 name="Google Shape;298;g2ef7d377288_0_8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ef7d377288_0_8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8" name="Google Shape;318;g2ef7d377288_0_8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ef7d377288_0_8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g2ef7d377288_0_8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ef7d377288_0_8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 name="Google Shape;349;g2ef7d377288_0_8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ef7d377288_0_8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7" name="Google Shape;357;g2ef7d377288_0_8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ef7d377288_0_9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g2ef7d377288_0_9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g2ef7d377288_0_9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zh-TW"/>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ef7d377288_0_9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7" name="Google Shape;377;g2ef7d377288_0_9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eef77f21c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2eef77f21c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8.jpg"/><Relationship Id="rId5" Type="http://schemas.openxmlformats.org/officeDocument/2006/relationships/image" Target="../media/image2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16.gif"/><Relationship Id="rId5"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45.jpg"/><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3.jpg"/><Relationship Id="rId4" Type="http://schemas.openxmlformats.org/officeDocument/2006/relationships/image" Target="../media/image20.png"/><Relationship Id="rId5"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12.jpg"/><Relationship Id="rId5"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hyperlink" Target="https://medium.com/lightmatter/optical-components-for-matrix-processing-73687cdd7aa6" TargetMode="External"/><Relationship Id="rId4" Type="http://schemas.openxmlformats.org/officeDocument/2006/relationships/image" Target="../media/image59.gif"/><Relationship Id="rId5" Type="http://schemas.openxmlformats.org/officeDocument/2006/relationships/image" Target="../media/image4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30.png"/><Relationship Id="rId4" Type="http://schemas.openxmlformats.org/officeDocument/2006/relationships/image" Target="../media/image39.gif"/><Relationship Id="rId5" Type="http://schemas.openxmlformats.org/officeDocument/2006/relationships/image" Target="../media/image40.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33.png"/><Relationship Id="rId5"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37.png"/><Relationship Id="rId4" Type="http://schemas.openxmlformats.org/officeDocument/2006/relationships/image" Target="../media/image36.png"/><Relationship Id="rId5"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4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56.png"/><Relationship Id="rId4" Type="http://schemas.openxmlformats.org/officeDocument/2006/relationships/image" Target="../media/image42.png"/><Relationship Id="rId5" Type="http://schemas.openxmlformats.org/officeDocument/2006/relationships/image" Target="../media/image47.png"/><Relationship Id="rId6" Type="http://schemas.openxmlformats.org/officeDocument/2006/relationships/image" Target="../media/image5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35.png"/><Relationship Id="rId4" Type="http://schemas.openxmlformats.org/officeDocument/2006/relationships/image" Target="../media/image41.png"/><Relationship Id="rId5" Type="http://schemas.openxmlformats.org/officeDocument/2006/relationships/image" Target="../media/image44.jpg"/><Relationship Id="rId6" Type="http://schemas.openxmlformats.org/officeDocument/2006/relationships/image" Target="../media/image5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5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16.gif"/><Relationship Id="rId4" Type="http://schemas.openxmlformats.org/officeDocument/2006/relationships/image" Target="../media/image52.png"/><Relationship Id="rId5" Type="http://schemas.openxmlformats.org/officeDocument/2006/relationships/image" Target="../media/image4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57.png"/><Relationship Id="rId4" Type="http://schemas.openxmlformats.org/officeDocument/2006/relationships/image" Target="../media/image5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49.png"/><Relationship Id="rId4" Type="http://schemas.openxmlformats.org/officeDocument/2006/relationships/image" Target="../media/image6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8.png"/><Relationship Id="rId4" Type="http://schemas.openxmlformats.org/officeDocument/2006/relationships/hyperlink" Target="https://www.pida.org.tw/main/article_show/0279" TargetMode="External"/><Relationship Id="rId5" Type="http://schemas.openxmlformats.org/officeDocument/2006/relationships/hyperlink" Target="https://www.degruyter.com/document/doi/10.1515/nanoph-2020-0309/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lnSpc>
                <a:spcPct val="90000"/>
              </a:lnSpc>
              <a:spcBef>
                <a:spcPts val="0"/>
              </a:spcBef>
              <a:spcAft>
                <a:spcPts val="0"/>
              </a:spcAft>
              <a:buClr>
                <a:srgbClr val="243748"/>
              </a:buClr>
              <a:buSzPts val="3300"/>
              <a:buFont typeface="Arial"/>
              <a:buNone/>
            </a:pPr>
            <a:r>
              <a:rPr lang="zh-TW" sz="2800">
                <a:solidFill>
                  <a:srgbClr val="000000"/>
                </a:solidFill>
                <a:highlight>
                  <a:schemeClr val="lt1"/>
                </a:highlight>
              </a:rPr>
              <a:t>Silicon Photonics</a:t>
            </a:r>
            <a:endParaRPr>
              <a:solidFill>
                <a:srgbClr val="000000"/>
              </a:solidFill>
              <a:highlight>
                <a:schemeClr val="lt1"/>
              </a:highlight>
            </a:endParaRPr>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zh-TW"/>
              <a:t>Jim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idx="4294967295" type="body"/>
          </p:nvPr>
        </p:nvSpPr>
        <p:spPr>
          <a:xfrm>
            <a:off x="243200" y="496850"/>
            <a:ext cx="3973800" cy="4646700"/>
          </a:xfrm>
          <a:prstGeom prst="rect">
            <a:avLst/>
          </a:prstGeom>
          <a:noFill/>
          <a:ln>
            <a:noFill/>
          </a:ln>
        </p:spPr>
        <p:txBody>
          <a:bodyPr anchorCtr="0" anchor="t" bIns="34275" lIns="68575" spcFirstLastPara="1" rIns="68575" wrap="square" tIns="34275">
            <a:normAutofit/>
          </a:bodyPr>
          <a:lstStyle/>
          <a:p>
            <a:pPr indent="-349250" lvl="0" marL="457200" rtl="0" algn="l">
              <a:lnSpc>
                <a:spcPct val="90000"/>
              </a:lnSpc>
              <a:spcBef>
                <a:spcPts val="800"/>
              </a:spcBef>
              <a:spcAft>
                <a:spcPts val="0"/>
              </a:spcAft>
              <a:buClr>
                <a:schemeClr val="dk1"/>
              </a:buClr>
              <a:buSzPts val="1900"/>
              <a:buChar char="●"/>
            </a:pPr>
            <a:r>
              <a:rPr lang="zh-TW" sz="1900">
                <a:solidFill>
                  <a:schemeClr val="dk1"/>
                </a:solidFill>
              </a:rPr>
              <a:t>矽光子介紹</a:t>
            </a:r>
            <a:endParaRPr sz="1900">
              <a:solidFill>
                <a:schemeClr val="dk1"/>
              </a:solidFill>
            </a:endParaRPr>
          </a:p>
          <a:p>
            <a:pPr indent="-349250" lvl="0" marL="457200" rtl="0" algn="l">
              <a:lnSpc>
                <a:spcPct val="90000"/>
              </a:lnSpc>
              <a:spcBef>
                <a:spcPts val="0"/>
              </a:spcBef>
              <a:spcAft>
                <a:spcPts val="0"/>
              </a:spcAft>
              <a:buClr>
                <a:schemeClr val="dk1"/>
              </a:buClr>
              <a:buSzPts val="1900"/>
              <a:buChar char="●"/>
            </a:pPr>
            <a:r>
              <a:rPr lang="zh-TW" sz="1900">
                <a:solidFill>
                  <a:schemeClr val="dk1"/>
                </a:solidFill>
              </a:rPr>
              <a:t>光波導 </a:t>
            </a:r>
            <a:r>
              <a:rPr lang="zh-TW" sz="1400">
                <a:solidFill>
                  <a:schemeClr val="dk1"/>
                </a:solidFill>
              </a:rPr>
              <a:t>Waveguide</a:t>
            </a:r>
            <a:endParaRPr sz="1400">
              <a:solidFill>
                <a:schemeClr val="dk1"/>
              </a:solidFill>
            </a:endParaRPr>
          </a:p>
          <a:p>
            <a:pPr indent="-349250" lvl="0" marL="457200" rtl="0" algn="l">
              <a:lnSpc>
                <a:spcPct val="90000"/>
              </a:lnSpc>
              <a:spcBef>
                <a:spcPts val="0"/>
              </a:spcBef>
              <a:spcAft>
                <a:spcPts val="0"/>
              </a:spcAft>
              <a:buClr>
                <a:schemeClr val="dk1"/>
              </a:buClr>
              <a:buSzPts val="1900"/>
              <a:buChar char="●"/>
            </a:pPr>
            <a:r>
              <a:rPr lang="zh-TW" sz="1900">
                <a:solidFill>
                  <a:schemeClr val="dk1"/>
                </a:solidFill>
              </a:rPr>
              <a:t>耦合器 </a:t>
            </a:r>
            <a:r>
              <a:rPr lang="zh-TW" sz="1400">
                <a:solidFill>
                  <a:schemeClr val="dk1"/>
                </a:solidFill>
              </a:rPr>
              <a:t>Directional coupler</a:t>
            </a:r>
            <a:endParaRPr sz="1400">
              <a:solidFill>
                <a:schemeClr val="dk1"/>
              </a:solidFill>
            </a:endParaRPr>
          </a:p>
          <a:p>
            <a:pPr indent="-349250" lvl="0" marL="457200" rtl="0" algn="l">
              <a:lnSpc>
                <a:spcPct val="90000"/>
              </a:lnSpc>
              <a:spcBef>
                <a:spcPts val="0"/>
              </a:spcBef>
              <a:spcAft>
                <a:spcPts val="0"/>
              </a:spcAft>
              <a:buClr>
                <a:schemeClr val="dk1"/>
              </a:buClr>
              <a:buSzPts val="1900"/>
              <a:buChar char="●"/>
            </a:pPr>
            <a:r>
              <a:rPr lang="zh-TW" sz="1900">
                <a:solidFill>
                  <a:schemeClr val="dk1"/>
                </a:solidFill>
              </a:rPr>
              <a:t>環形共振器 </a:t>
            </a:r>
            <a:r>
              <a:rPr lang="zh-TW" sz="1400">
                <a:solidFill>
                  <a:schemeClr val="dk1"/>
                </a:solidFill>
              </a:rPr>
              <a:t>Ring resonator</a:t>
            </a:r>
            <a:endParaRPr sz="1400">
              <a:solidFill>
                <a:schemeClr val="dk1"/>
              </a:solidFill>
            </a:endParaRPr>
          </a:p>
          <a:p>
            <a:pPr indent="-349250" lvl="0" marL="457200" rtl="0" algn="l">
              <a:lnSpc>
                <a:spcPct val="90000"/>
              </a:lnSpc>
              <a:spcBef>
                <a:spcPts val="0"/>
              </a:spcBef>
              <a:spcAft>
                <a:spcPts val="0"/>
              </a:spcAft>
              <a:buClr>
                <a:schemeClr val="dk1"/>
              </a:buClr>
              <a:buSzPts val="1900"/>
              <a:buChar char="●"/>
            </a:pPr>
            <a:r>
              <a:rPr lang="zh-TW" sz="1900">
                <a:solidFill>
                  <a:schemeClr val="dk1"/>
                </a:solidFill>
              </a:rPr>
              <a:t>饋入與輸出口 </a:t>
            </a:r>
            <a:r>
              <a:rPr lang="zh-TW" sz="1400">
                <a:solidFill>
                  <a:schemeClr val="dk1"/>
                </a:solidFill>
              </a:rPr>
              <a:t>I/O couple</a:t>
            </a:r>
            <a:endParaRPr sz="1400">
              <a:solidFill>
                <a:schemeClr val="dk1"/>
              </a:solidFill>
            </a:endParaRPr>
          </a:p>
          <a:p>
            <a:pPr indent="-349250" lvl="0" marL="457200" rtl="0" algn="l">
              <a:lnSpc>
                <a:spcPct val="90000"/>
              </a:lnSpc>
              <a:spcBef>
                <a:spcPts val="0"/>
              </a:spcBef>
              <a:spcAft>
                <a:spcPts val="0"/>
              </a:spcAft>
              <a:buClr>
                <a:schemeClr val="dk1"/>
              </a:buClr>
              <a:buSzPts val="1900"/>
              <a:buChar char="●"/>
            </a:pPr>
            <a:r>
              <a:rPr lang="zh-TW" sz="1900">
                <a:solidFill>
                  <a:schemeClr val="dk1"/>
                </a:solidFill>
              </a:rPr>
              <a:t>干涉調變器</a:t>
            </a:r>
            <a:r>
              <a:rPr lang="zh-TW" sz="1400">
                <a:solidFill>
                  <a:schemeClr val="dk1"/>
                </a:solidFill>
              </a:rPr>
              <a:t> MRM &amp; MZM modulator</a:t>
            </a:r>
            <a:endParaRPr sz="1400">
              <a:solidFill>
                <a:schemeClr val="dk1"/>
              </a:solidFill>
            </a:endParaRPr>
          </a:p>
          <a:p>
            <a:pPr indent="-349250" lvl="0" marL="457200" rtl="0" algn="l">
              <a:lnSpc>
                <a:spcPct val="90000"/>
              </a:lnSpc>
              <a:spcBef>
                <a:spcPts val="0"/>
              </a:spcBef>
              <a:spcAft>
                <a:spcPts val="0"/>
              </a:spcAft>
              <a:buClr>
                <a:schemeClr val="dk1"/>
              </a:buClr>
              <a:buSzPts val="1900"/>
              <a:buChar char="●"/>
            </a:pPr>
            <a:r>
              <a:rPr lang="zh-TW" sz="1900">
                <a:solidFill>
                  <a:schemeClr val="dk1"/>
                </a:solidFill>
              </a:rPr>
              <a:t>鍺光偵測器 </a:t>
            </a:r>
            <a:r>
              <a:rPr lang="zh-TW" sz="1400">
                <a:solidFill>
                  <a:schemeClr val="dk1"/>
                </a:solidFill>
              </a:rPr>
              <a:t>Ge on Si Photonics</a:t>
            </a:r>
            <a:endParaRPr sz="1400">
              <a:solidFill>
                <a:schemeClr val="dk1"/>
              </a:solidFill>
            </a:endParaRPr>
          </a:p>
          <a:p>
            <a:pPr indent="-349250" lvl="0" marL="457200" rtl="0" algn="l">
              <a:lnSpc>
                <a:spcPct val="90000"/>
              </a:lnSpc>
              <a:spcBef>
                <a:spcPts val="0"/>
              </a:spcBef>
              <a:spcAft>
                <a:spcPts val="0"/>
              </a:spcAft>
              <a:buClr>
                <a:schemeClr val="dk1"/>
              </a:buClr>
              <a:buSzPts val="1900"/>
              <a:buChar char="●"/>
            </a:pPr>
            <a:r>
              <a:rPr lang="zh-TW" sz="1900">
                <a:solidFill>
                  <a:schemeClr val="dk1"/>
                </a:solidFill>
              </a:rPr>
              <a:t>光通訊協議 </a:t>
            </a:r>
            <a:r>
              <a:rPr lang="zh-TW" sz="1400">
                <a:solidFill>
                  <a:schemeClr val="dk1"/>
                </a:solidFill>
              </a:rPr>
              <a:t>Protocol to enhance the data capacity</a:t>
            </a:r>
            <a:endParaRPr sz="1400">
              <a:solidFill>
                <a:schemeClr val="dk1"/>
              </a:solidFill>
            </a:endParaRPr>
          </a:p>
          <a:p>
            <a:pPr indent="-349250" lvl="0" marL="457200" rtl="0" algn="l">
              <a:lnSpc>
                <a:spcPct val="90000"/>
              </a:lnSpc>
              <a:spcBef>
                <a:spcPts val="0"/>
              </a:spcBef>
              <a:spcAft>
                <a:spcPts val="0"/>
              </a:spcAft>
              <a:buClr>
                <a:schemeClr val="dk1"/>
              </a:buClr>
              <a:buSzPts val="1900"/>
              <a:buChar char="●"/>
            </a:pPr>
            <a:r>
              <a:rPr lang="zh-TW" sz="1900">
                <a:solidFill>
                  <a:schemeClr val="dk1"/>
                </a:solidFill>
              </a:rPr>
              <a:t>可程式光學</a:t>
            </a:r>
            <a:r>
              <a:rPr lang="zh-TW" sz="1400">
                <a:solidFill>
                  <a:schemeClr val="dk1"/>
                </a:solidFill>
              </a:rPr>
              <a:t>IC  Programmable PIC</a:t>
            </a:r>
            <a:endParaRPr sz="1400">
              <a:solidFill>
                <a:schemeClr val="dk1"/>
              </a:solidFill>
            </a:endParaRPr>
          </a:p>
          <a:p>
            <a:pPr indent="-349250" lvl="0" marL="457200" rtl="0" algn="l">
              <a:lnSpc>
                <a:spcPct val="90000"/>
              </a:lnSpc>
              <a:spcBef>
                <a:spcPts val="0"/>
              </a:spcBef>
              <a:spcAft>
                <a:spcPts val="0"/>
              </a:spcAft>
              <a:buClr>
                <a:schemeClr val="dk1"/>
              </a:buClr>
              <a:buSzPts val="1900"/>
              <a:buChar char="●"/>
            </a:pPr>
            <a:r>
              <a:rPr lang="zh-TW" sz="1900">
                <a:solidFill>
                  <a:schemeClr val="dk1"/>
                </a:solidFill>
              </a:rPr>
              <a:t>應用場景與供應鏈</a:t>
            </a:r>
            <a:endParaRPr sz="1900">
              <a:solidFill>
                <a:schemeClr val="dk1"/>
              </a:solidFill>
            </a:endParaRPr>
          </a:p>
          <a:p>
            <a:pPr indent="0" lvl="0" marL="457200" rtl="0" algn="l">
              <a:lnSpc>
                <a:spcPct val="90000"/>
              </a:lnSpc>
              <a:spcBef>
                <a:spcPts val="800"/>
              </a:spcBef>
              <a:spcAft>
                <a:spcPts val="0"/>
              </a:spcAft>
              <a:buNone/>
            </a:pPr>
            <a:r>
              <a:t/>
            </a:r>
            <a:endParaRPr>
              <a:solidFill>
                <a:srgbClr val="124163"/>
              </a:solidFill>
            </a:endParaRPr>
          </a:p>
        </p:txBody>
      </p:sp>
      <p:sp>
        <p:nvSpPr>
          <p:cNvPr id="74" name="Google Shape;74;p14"/>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Outline</a:t>
            </a:r>
            <a:endParaRPr/>
          </a:p>
        </p:txBody>
      </p:sp>
      <p:pic>
        <p:nvPicPr>
          <p:cNvPr id="75" name="Google Shape;75;p14"/>
          <p:cNvPicPr preferRelativeResize="0"/>
          <p:nvPr/>
        </p:nvPicPr>
        <p:blipFill rotWithShape="1">
          <a:blip r:embed="rId3">
            <a:alphaModFix/>
          </a:blip>
          <a:srcRect b="0" l="0" r="0" t="0"/>
          <a:stretch/>
        </p:blipFill>
        <p:spPr>
          <a:xfrm>
            <a:off x="4301836" y="3237861"/>
            <a:ext cx="3211291" cy="1545434"/>
          </a:xfrm>
          <a:prstGeom prst="rect">
            <a:avLst/>
          </a:prstGeom>
          <a:noFill/>
          <a:ln>
            <a:noFill/>
          </a:ln>
        </p:spPr>
      </p:pic>
      <p:pic>
        <p:nvPicPr>
          <p:cNvPr id="76" name="Google Shape;76;p14"/>
          <p:cNvPicPr preferRelativeResize="0"/>
          <p:nvPr/>
        </p:nvPicPr>
        <p:blipFill rotWithShape="1">
          <a:blip r:embed="rId4">
            <a:alphaModFix/>
          </a:blip>
          <a:srcRect b="0" l="0" r="0" t="0"/>
          <a:stretch/>
        </p:blipFill>
        <p:spPr>
          <a:xfrm>
            <a:off x="4301836" y="226153"/>
            <a:ext cx="3211292" cy="2985962"/>
          </a:xfrm>
          <a:prstGeom prst="rect">
            <a:avLst/>
          </a:prstGeom>
          <a:noFill/>
          <a:ln>
            <a:noFill/>
          </a:ln>
        </p:spPr>
      </p:pic>
      <p:sp>
        <p:nvSpPr>
          <p:cNvPr id="77" name="Google Shape;77;p14"/>
          <p:cNvSpPr txBox="1"/>
          <p:nvPr/>
        </p:nvSpPr>
        <p:spPr>
          <a:xfrm>
            <a:off x="7513127" y="3872078"/>
            <a:ext cx="1625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dk1"/>
                </a:solidFill>
                <a:latin typeface="Arial"/>
                <a:ea typeface="Arial"/>
                <a:cs typeface="Arial"/>
                <a:sym typeface="Arial"/>
              </a:rPr>
              <a:t>Active component</a:t>
            </a:r>
            <a:endParaRPr b="0" i="0" sz="1100" u="none" cap="none" strike="noStrike">
              <a:solidFill>
                <a:srgbClr val="000000"/>
              </a:solidFill>
              <a:latin typeface="Arial"/>
              <a:ea typeface="Arial"/>
              <a:cs typeface="Arial"/>
              <a:sym typeface="Arial"/>
            </a:endParaRPr>
          </a:p>
        </p:txBody>
      </p:sp>
      <p:sp>
        <p:nvSpPr>
          <p:cNvPr id="78" name="Google Shape;78;p14"/>
          <p:cNvSpPr txBox="1"/>
          <p:nvPr/>
        </p:nvSpPr>
        <p:spPr>
          <a:xfrm>
            <a:off x="7490401" y="1545319"/>
            <a:ext cx="16704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dk1"/>
                </a:solidFill>
                <a:latin typeface="Arial"/>
                <a:ea typeface="Arial"/>
                <a:cs typeface="Arial"/>
                <a:sym typeface="Arial"/>
              </a:rPr>
              <a:t>Passive component</a:t>
            </a:r>
            <a:endParaRPr b="0" i="0" sz="1100" u="none" cap="none" strike="noStrike">
              <a:solidFill>
                <a:srgbClr val="000000"/>
              </a:solidFill>
              <a:latin typeface="Arial"/>
              <a:ea typeface="Arial"/>
              <a:cs typeface="Arial"/>
              <a:sym typeface="Arial"/>
            </a:endParaRPr>
          </a:p>
        </p:txBody>
      </p:sp>
      <p:pic>
        <p:nvPicPr>
          <p:cNvPr id="79" name="Google Shape;79;p14"/>
          <p:cNvPicPr preferRelativeResize="0"/>
          <p:nvPr/>
        </p:nvPicPr>
        <p:blipFill rotWithShape="1">
          <a:blip r:embed="rId5">
            <a:alphaModFix/>
          </a:blip>
          <a:srcRect b="0" l="0" r="0" t="0"/>
          <a:stretch/>
        </p:blipFill>
        <p:spPr>
          <a:xfrm>
            <a:off x="2344100" y="3659187"/>
            <a:ext cx="1872775" cy="130888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311700" y="445025"/>
            <a:ext cx="8520600" cy="608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What is silicon photonics</a:t>
            </a:r>
            <a:endParaRPr/>
          </a:p>
        </p:txBody>
      </p:sp>
      <p:sp>
        <p:nvSpPr>
          <p:cNvPr id="85" name="Google Shape;85;p15"/>
          <p:cNvSpPr txBox="1"/>
          <p:nvPr>
            <p:ph idx="1" type="body"/>
          </p:nvPr>
        </p:nvSpPr>
        <p:spPr>
          <a:xfrm>
            <a:off x="311700" y="1053125"/>
            <a:ext cx="8520600" cy="351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1400">
                <a:solidFill>
                  <a:srgbClr val="000000"/>
                </a:solidFill>
              </a:rPr>
              <a:t>Silicon photonics is a technology that constructs large-scale photonic circuits on silicon wafers using silicon semiconductor manufacturing techniques.</a:t>
            </a:r>
            <a:endParaRPr sz="1400">
              <a:solidFill>
                <a:srgbClr val="000000"/>
              </a:solidFill>
            </a:endParaRPr>
          </a:p>
          <a:p>
            <a:pPr indent="0" lvl="0" marL="0" rtl="0" algn="l">
              <a:spcBef>
                <a:spcPts val="1200"/>
              </a:spcBef>
              <a:spcAft>
                <a:spcPts val="1200"/>
              </a:spcAft>
              <a:buNone/>
            </a:pPr>
            <a:r>
              <a:rPr lang="zh-TW" sz="1400">
                <a:solidFill>
                  <a:srgbClr val="000000"/>
                </a:solidFill>
              </a:rPr>
              <a:t> This technology leverages the properties of light to achieve high-speed, high-capacity, and low-power data transmission.</a:t>
            </a:r>
            <a:endParaRPr sz="1400">
              <a:solidFill>
                <a:srgbClr val="000000"/>
              </a:solidFill>
            </a:endParaRPr>
          </a:p>
        </p:txBody>
      </p:sp>
      <p:pic>
        <p:nvPicPr>
          <p:cNvPr id="86" name="Google Shape;86;p15"/>
          <p:cNvPicPr preferRelativeResize="0"/>
          <p:nvPr/>
        </p:nvPicPr>
        <p:blipFill>
          <a:blip r:embed="rId3">
            <a:alphaModFix/>
          </a:blip>
          <a:stretch>
            <a:fillRect/>
          </a:stretch>
        </p:blipFill>
        <p:spPr>
          <a:xfrm>
            <a:off x="3746150" y="2147600"/>
            <a:ext cx="4929575" cy="2764750"/>
          </a:xfrm>
          <a:prstGeom prst="rect">
            <a:avLst/>
          </a:prstGeom>
          <a:noFill/>
          <a:ln>
            <a:noFill/>
          </a:ln>
        </p:spPr>
      </p:pic>
      <p:pic>
        <p:nvPicPr>
          <p:cNvPr id="87" name="Google Shape;87;p15"/>
          <p:cNvPicPr preferRelativeResize="0"/>
          <p:nvPr/>
        </p:nvPicPr>
        <p:blipFill>
          <a:blip r:embed="rId4">
            <a:alphaModFix/>
          </a:blip>
          <a:stretch>
            <a:fillRect/>
          </a:stretch>
        </p:blipFill>
        <p:spPr>
          <a:xfrm>
            <a:off x="450025" y="2323550"/>
            <a:ext cx="3226676" cy="2588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Problems Solved by Silicon photonic</a:t>
            </a:r>
            <a:endParaRPr/>
          </a:p>
        </p:txBody>
      </p:sp>
      <p:sp>
        <p:nvSpPr>
          <p:cNvPr id="93" name="Google Shape;93;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zh-TW" sz="1700">
                <a:solidFill>
                  <a:srgbClr val="000000"/>
                </a:solidFill>
                <a:latin typeface="Arial"/>
                <a:ea typeface="Arial"/>
                <a:cs typeface="Arial"/>
                <a:sym typeface="Arial"/>
              </a:rPr>
              <a:t>High data rate and Low Latency</a:t>
            </a:r>
            <a:r>
              <a:rPr lang="zh-TW" sz="1700">
                <a:solidFill>
                  <a:srgbClr val="000000"/>
                </a:solidFill>
                <a:latin typeface="Arial"/>
                <a:ea typeface="Arial"/>
                <a:cs typeface="Arial"/>
                <a:sym typeface="Arial"/>
              </a:rPr>
              <a:t>: light polriaztion and mode 、 high group velocity  </a:t>
            </a:r>
            <a:endParaRPr sz="1700">
              <a:solidFill>
                <a:srgbClr val="000000"/>
              </a:solidFill>
              <a:latin typeface="Arial"/>
              <a:ea typeface="Arial"/>
              <a:cs typeface="Arial"/>
              <a:sym typeface="Arial"/>
            </a:endParaRPr>
          </a:p>
          <a:p>
            <a:pPr indent="0" lvl="0" marL="0" rtl="0" algn="l">
              <a:spcBef>
                <a:spcPts val="1200"/>
              </a:spcBef>
              <a:spcAft>
                <a:spcPts val="0"/>
              </a:spcAft>
              <a:buNone/>
            </a:pPr>
            <a:r>
              <a:rPr b="1" lang="zh-TW" sz="1700">
                <a:solidFill>
                  <a:srgbClr val="000000"/>
                </a:solidFill>
                <a:latin typeface="Arial"/>
                <a:ea typeface="Arial"/>
                <a:cs typeface="Arial"/>
                <a:sym typeface="Arial"/>
              </a:rPr>
              <a:t>Energy Efficiency</a:t>
            </a:r>
            <a:r>
              <a:rPr lang="zh-TW" sz="1700">
                <a:solidFill>
                  <a:srgbClr val="000000"/>
                </a:solidFill>
                <a:latin typeface="Arial"/>
                <a:ea typeface="Arial"/>
                <a:cs typeface="Arial"/>
                <a:sym typeface="Arial"/>
              </a:rPr>
              <a:t>: low loss </a:t>
            </a:r>
            <a:endParaRPr sz="1700">
              <a:solidFill>
                <a:srgbClr val="000000"/>
              </a:solidFill>
              <a:latin typeface="Arial"/>
              <a:ea typeface="Arial"/>
              <a:cs typeface="Arial"/>
              <a:sym typeface="Arial"/>
            </a:endParaRPr>
          </a:p>
          <a:p>
            <a:pPr indent="0" lvl="0" marL="0" rtl="0" algn="l">
              <a:spcBef>
                <a:spcPts val="1200"/>
              </a:spcBef>
              <a:spcAft>
                <a:spcPts val="1200"/>
              </a:spcAft>
              <a:buNone/>
            </a:pPr>
            <a:r>
              <a:rPr b="1" lang="zh-TW" sz="1700">
                <a:solidFill>
                  <a:srgbClr val="000000"/>
                </a:solidFill>
                <a:latin typeface="Arial"/>
                <a:ea typeface="Arial"/>
                <a:cs typeface="Arial"/>
                <a:sym typeface="Arial"/>
              </a:rPr>
              <a:t>Scalability</a:t>
            </a:r>
            <a:r>
              <a:rPr lang="zh-TW" sz="1700">
                <a:solidFill>
                  <a:srgbClr val="000000"/>
                </a:solidFill>
                <a:latin typeface="Arial"/>
                <a:ea typeface="Arial"/>
                <a:cs typeface="Arial"/>
                <a:sym typeface="Arial"/>
              </a:rPr>
              <a:t>: heat、crosstalk、mature silicon wafer processes(low cost)</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Why </a:t>
            </a:r>
            <a:r>
              <a:rPr lang="zh-TW"/>
              <a:t>silicon</a:t>
            </a:r>
            <a:r>
              <a:rPr lang="zh-TW"/>
              <a:t> </a:t>
            </a:r>
            <a:r>
              <a:rPr lang="zh-TW"/>
              <a:t>photonics can achieve ?</a:t>
            </a:r>
            <a:endParaRPr/>
          </a:p>
        </p:txBody>
      </p:sp>
      <p:pic>
        <p:nvPicPr>
          <p:cNvPr id="99" name="Google Shape;99;p17"/>
          <p:cNvPicPr preferRelativeResize="0"/>
          <p:nvPr/>
        </p:nvPicPr>
        <p:blipFill>
          <a:blip r:embed="rId3">
            <a:alphaModFix/>
          </a:blip>
          <a:stretch>
            <a:fillRect/>
          </a:stretch>
        </p:blipFill>
        <p:spPr>
          <a:xfrm>
            <a:off x="391025" y="1152425"/>
            <a:ext cx="4721926" cy="3852829"/>
          </a:xfrm>
          <a:prstGeom prst="rect">
            <a:avLst/>
          </a:prstGeom>
          <a:noFill/>
          <a:ln>
            <a:noFill/>
          </a:ln>
        </p:spPr>
      </p:pic>
      <p:sp>
        <p:nvSpPr>
          <p:cNvPr id="100" name="Google Shape;100;p17"/>
          <p:cNvSpPr txBox="1"/>
          <p:nvPr/>
        </p:nvSpPr>
        <p:spPr>
          <a:xfrm>
            <a:off x="4943900" y="1322525"/>
            <a:ext cx="41061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t>Example:</a:t>
            </a:r>
            <a:endParaRPr sz="1800"/>
          </a:p>
          <a:p>
            <a:pPr indent="0" lvl="0" marL="0" rtl="0" algn="l">
              <a:spcBef>
                <a:spcPts val="0"/>
              </a:spcBef>
              <a:spcAft>
                <a:spcPts val="0"/>
              </a:spcAft>
              <a:buNone/>
            </a:pPr>
            <a:r>
              <a:rPr lang="zh-TW" sz="1800"/>
              <a:t>FR_4 @10^10Hz : Dk 4    ,Df 0.01</a:t>
            </a:r>
            <a:endParaRPr sz="1800"/>
          </a:p>
          <a:p>
            <a:pPr indent="0" lvl="0" marL="0" rtl="0" algn="l">
              <a:spcBef>
                <a:spcPts val="0"/>
              </a:spcBef>
              <a:spcAft>
                <a:spcPts val="0"/>
              </a:spcAft>
              <a:buNone/>
            </a:pPr>
            <a:r>
              <a:rPr lang="zh-TW" sz="1800"/>
              <a:t>SiO2  @10^14Hz : Dk 1.4 ,Df 0.00001</a:t>
            </a:r>
            <a:br>
              <a:rPr lang="zh-TW" sz="1800">
                <a:latin typeface="Open Sans"/>
                <a:ea typeface="Open Sans"/>
                <a:cs typeface="Open Sans"/>
                <a:sym typeface="Open Sans"/>
              </a:rPr>
            </a:br>
            <a:endParaRPr sz="1800">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矽光子Q&amp;A</a:t>
            </a:r>
            <a:endParaRPr/>
          </a:p>
        </p:txBody>
      </p:sp>
      <p:sp>
        <p:nvSpPr>
          <p:cNvPr id="106" name="Google Shape;106;p18"/>
          <p:cNvSpPr txBox="1"/>
          <p:nvPr/>
        </p:nvSpPr>
        <p:spPr>
          <a:xfrm>
            <a:off x="89588" y="534581"/>
            <a:ext cx="8316900" cy="1009500"/>
          </a:xfrm>
          <a:prstGeom prst="rect">
            <a:avLst/>
          </a:prstGeom>
          <a:noFill/>
          <a:ln>
            <a:noFill/>
          </a:ln>
        </p:spPr>
        <p:txBody>
          <a:bodyPr anchorCtr="0" anchor="t" bIns="68575" lIns="68575" spcFirstLastPara="1" rIns="68575" wrap="square" tIns="68575">
            <a:noAutofit/>
          </a:bodyPr>
          <a:lstStyle/>
          <a:p>
            <a:pPr indent="-279400" lvl="0" marL="342900" marR="0" rtl="0" algn="l">
              <a:lnSpc>
                <a:spcPct val="100000"/>
              </a:lnSpc>
              <a:spcBef>
                <a:spcPts val="0"/>
              </a:spcBef>
              <a:spcAft>
                <a:spcPts val="0"/>
              </a:spcAft>
              <a:buClr>
                <a:schemeClr val="dk1"/>
              </a:buClr>
              <a:buSzPts val="1800"/>
              <a:buFont typeface="Arial"/>
              <a:buAutoNum type="arabicPeriod"/>
            </a:pPr>
            <a:r>
              <a:rPr b="0" i="0" lang="zh-TW" sz="1800" u="none" cap="none" strike="noStrike">
                <a:solidFill>
                  <a:schemeClr val="dk1"/>
                </a:solidFill>
                <a:latin typeface="Arial"/>
                <a:ea typeface="Arial"/>
                <a:cs typeface="Arial"/>
                <a:sym typeface="Arial"/>
              </a:rPr>
              <a:t>矽光子要解決的問題是什麼?</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zh-TW" sz="1800" u="none" cap="none" strike="noStrike">
                <a:solidFill>
                  <a:schemeClr val="dk1"/>
                </a:solidFill>
                <a:latin typeface="Arial"/>
                <a:ea typeface="Arial"/>
                <a:cs typeface="Arial"/>
                <a:sym typeface="Arial"/>
              </a:rPr>
              <a:t>A:要解決目前數字信號的高速傳輸的瓶頸</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zh-TW" sz="1100" u="none" cap="none" strike="noStrike">
                <a:solidFill>
                  <a:schemeClr val="dk1"/>
                </a:solidFill>
                <a:highlight>
                  <a:srgbClr val="FFFFFF"/>
                </a:highlight>
                <a:latin typeface="Arial"/>
                <a:ea typeface="Arial"/>
                <a:cs typeface="Arial"/>
                <a:sym typeface="Arial"/>
              </a:rPr>
              <a:t>          信號衰減：在長距離傳輸過程中，信號會因為傳播損耗而逐漸衰減。這要求增設中繼站或使用放大器來維持信號的質量。</a:t>
            </a:r>
            <a:endParaRPr b="0" i="0" sz="1100" u="none" cap="none" strike="noStrike">
              <a:solidFill>
                <a:schemeClr val="dk1"/>
              </a:solidFill>
              <a:highlight>
                <a:srgbClr val="FFFFFF"/>
              </a:highlight>
              <a:latin typeface="Arial"/>
              <a:ea typeface="Arial"/>
              <a:cs typeface="Arial"/>
              <a:sym typeface="Arial"/>
            </a:endParaRPr>
          </a:p>
          <a:p>
            <a:pPr indent="0" lvl="0" marL="342900" marR="0" rtl="0" algn="l">
              <a:lnSpc>
                <a:spcPct val="115000"/>
              </a:lnSpc>
              <a:spcBef>
                <a:spcPts val="0"/>
              </a:spcBef>
              <a:spcAft>
                <a:spcPts val="0"/>
              </a:spcAft>
              <a:buClr>
                <a:srgbClr val="000000"/>
              </a:buClr>
              <a:buSzPts val="1100"/>
              <a:buFont typeface="Arial"/>
              <a:buNone/>
            </a:pPr>
            <a:r>
              <a:rPr b="0" i="0" lang="zh-TW" sz="1100" u="none" cap="none" strike="noStrike">
                <a:solidFill>
                  <a:schemeClr val="dk1"/>
                </a:solidFill>
                <a:highlight>
                  <a:srgbClr val="FFFFFF"/>
                </a:highlight>
                <a:latin typeface="Arial"/>
                <a:ea typeface="Arial"/>
                <a:cs typeface="Arial"/>
                <a:sym typeface="Arial"/>
              </a:rPr>
              <a:t>干擾和噪聲：尤其在銅線等傳統媒介上，外部電磁干擾和其他噪聲可以顯著影響信號質量，導致數據錯誤和傳輸效率下降。</a:t>
            </a:r>
            <a:endParaRPr b="0" i="0" sz="1800" u="none" cap="none" strike="noStrike">
              <a:solidFill>
                <a:schemeClr val="dk2"/>
              </a:solidFill>
              <a:latin typeface="Arial"/>
              <a:ea typeface="Arial"/>
              <a:cs typeface="Arial"/>
              <a:sym typeface="Arial"/>
            </a:endParaRPr>
          </a:p>
        </p:txBody>
      </p:sp>
      <p:pic>
        <p:nvPicPr>
          <p:cNvPr id="107" name="Google Shape;107;p18"/>
          <p:cNvPicPr preferRelativeResize="0"/>
          <p:nvPr/>
        </p:nvPicPr>
        <p:blipFill rotWithShape="1">
          <a:blip r:embed="rId3">
            <a:alphaModFix/>
          </a:blip>
          <a:srcRect b="0" l="0" r="46952" t="0"/>
          <a:stretch/>
        </p:blipFill>
        <p:spPr>
          <a:xfrm>
            <a:off x="690919" y="1683600"/>
            <a:ext cx="3007988" cy="2940506"/>
          </a:xfrm>
          <a:prstGeom prst="rect">
            <a:avLst/>
          </a:prstGeom>
          <a:noFill/>
          <a:ln>
            <a:noFill/>
          </a:ln>
        </p:spPr>
      </p:pic>
      <p:sp>
        <p:nvSpPr>
          <p:cNvPr id="108" name="Google Shape;108;p18"/>
          <p:cNvSpPr txBox="1"/>
          <p:nvPr/>
        </p:nvSpPr>
        <p:spPr>
          <a:xfrm>
            <a:off x="4102631" y="4426556"/>
            <a:ext cx="4650900" cy="6003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500"/>
              <a:buFont typeface="Arial"/>
              <a:buNone/>
            </a:pPr>
            <a:r>
              <a:rPr b="0" i="0" lang="zh-TW" sz="1500" u="none" cap="none" strike="noStrike">
                <a:solidFill>
                  <a:schemeClr val="dk2"/>
                </a:solidFill>
                <a:latin typeface="Arial"/>
                <a:ea typeface="Arial"/>
                <a:cs typeface="Arial"/>
                <a:sym typeface="Arial"/>
              </a:rPr>
              <a:t>數字信號在傳輸的過程中會漸漸見失真</a:t>
            </a:r>
            <a:endParaRPr b="0" i="0" sz="15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cxnSp>
        <p:nvCxnSpPr>
          <p:cNvPr id="109" name="Google Shape;109;p18"/>
          <p:cNvCxnSpPr/>
          <p:nvPr/>
        </p:nvCxnSpPr>
        <p:spPr>
          <a:xfrm>
            <a:off x="2415056" y="4127775"/>
            <a:ext cx="1599000" cy="476400"/>
          </a:xfrm>
          <a:prstGeom prst="straightConnector1">
            <a:avLst/>
          </a:prstGeom>
          <a:noFill/>
          <a:ln cap="flat" cmpd="sng" w="38100">
            <a:solidFill>
              <a:srgbClr val="FF0000"/>
            </a:solidFill>
            <a:prstDash val="solid"/>
            <a:round/>
            <a:headEnd len="sm" w="sm" type="none"/>
            <a:tailEnd len="med" w="med" type="triangle"/>
          </a:ln>
        </p:spPr>
      </p:cxnSp>
      <p:sp>
        <p:nvSpPr>
          <p:cNvPr id="110" name="Google Shape;110;p18"/>
          <p:cNvSpPr txBox="1"/>
          <p:nvPr/>
        </p:nvSpPr>
        <p:spPr>
          <a:xfrm>
            <a:off x="4183882" y="1839575"/>
            <a:ext cx="4864500" cy="502500"/>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0"/>
              </a:spcBef>
              <a:spcAft>
                <a:spcPts val="0"/>
              </a:spcAft>
              <a:buClr>
                <a:srgbClr val="000000"/>
              </a:buClr>
              <a:buSzPts val="1100"/>
              <a:buFont typeface="Arial"/>
              <a:buNone/>
            </a:pPr>
            <a:r>
              <a:rPr b="0" i="0" lang="zh-TW" sz="1100" u="none" cap="none" strike="noStrike">
                <a:solidFill>
                  <a:schemeClr val="dk1"/>
                </a:solidFill>
                <a:highlight>
                  <a:srgbClr val="FFFFFF"/>
                </a:highlight>
                <a:latin typeface="Arial"/>
                <a:ea typeface="Arial"/>
                <a:cs typeface="Arial"/>
                <a:sym typeface="Arial"/>
              </a:rPr>
              <a:t>信號衰減：</a:t>
            </a:r>
            <a:r>
              <a:rPr lang="zh-TW" sz="1100">
                <a:solidFill>
                  <a:schemeClr val="dk1"/>
                </a:solidFill>
                <a:highlight>
                  <a:srgbClr val="FFFFFF"/>
                </a:highlight>
              </a:rPr>
              <a:t>光波導具有低損耗特性</a:t>
            </a:r>
            <a:endParaRPr b="0" i="0" sz="1100" u="none" cap="none" strike="noStrike">
              <a:solidFill>
                <a:schemeClr val="dk1"/>
              </a:solidFill>
              <a:highlight>
                <a:srgbClr val="FFFFFF"/>
              </a:highlight>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zh-TW" sz="1100" u="none" cap="none" strike="noStrike">
                <a:solidFill>
                  <a:schemeClr val="dk1"/>
                </a:solidFill>
                <a:highlight>
                  <a:srgbClr val="FFFFFF"/>
                </a:highlight>
                <a:latin typeface="Arial"/>
                <a:ea typeface="Arial"/>
                <a:cs typeface="Arial"/>
                <a:sym typeface="Arial"/>
              </a:rPr>
              <a:t>干擾和噪聲：</a:t>
            </a:r>
            <a:r>
              <a:rPr lang="zh-TW" sz="1100">
                <a:solidFill>
                  <a:schemeClr val="dk1"/>
                </a:solidFill>
                <a:highlight>
                  <a:srgbClr val="FFFFFF"/>
                </a:highlight>
              </a:rPr>
              <a:t>光彼此之間不會有耦合關系</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idx="4294967295" type="body"/>
          </p:nvPr>
        </p:nvSpPr>
        <p:spPr>
          <a:xfrm>
            <a:off x="350575" y="4445200"/>
            <a:ext cx="8402400" cy="5982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1200"/>
              </a:spcAft>
              <a:buClr>
                <a:schemeClr val="dk1"/>
              </a:buClr>
              <a:buSzPts val="700"/>
              <a:buNone/>
            </a:pPr>
            <a:r>
              <a:rPr lang="zh-TW"/>
              <a:t>矽光子其中一個關鍵技術是在矽晶圓上製作光波導作為訊號傳輸管道，光波導是利用光在不同折射率邊界會產生全反射的性質，使被侷限在光波導中。</a:t>
            </a:r>
            <a:endParaRPr/>
          </a:p>
        </p:txBody>
      </p:sp>
      <p:sp>
        <p:nvSpPr>
          <p:cNvPr id="116" name="Google Shape;116;p19"/>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Waveguide</a:t>
            </a:r>
            <a:endParaRPr/>
          </a:p>
        </p:txBody>
      </p:sp>
      <p:sp>
        <p:nvSpPr>
          <p:cNvPr id="117" name="Google Shape;117;p19"/>
          <p:cNvSpPr txBox="1"/>
          <p:nvPr>
            <p:ph idx="4294967295" type="body"/>
          </p:nvPr>
        </p:nvSpPr>
        <p:spPr>
          <a:xfrm>
            <a:off x="292892" y="503556"/>
            <a:ext cx="8558400" cy="2601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0"/>
              </a:spcBef>
              <a:spcAft>
                <a:spcPts val="1200"/>
              </a:spcAft>
              <a:buClr>
                <a:schemeClr val="accent1"/>
              </a:buClr>
              <a:buSzPct val="83333"/>
              <a:buNone/>
            </a:pPr>
            <a:r>
              <a:rPr lang="zh-TW"/>
              <a:t>Principle of waveguide  </a:t>
            </a:r>
            <a:endParaRPr/>
          </a:p>
        </p:txBody>
      </p:sp>
      <p:pic>
        <p:nvPicPr>
          <p:cNvPr descr="M² and High-order Modes – DataRay" id="118" name="Google Shape;118;p19"/>
          <p:cNvPicPr preferRelativeResize="0"/>
          <p:nvPr/>
        </p:nvPicPr>
        <p:blipFill rotWithShape="1">
          <a:blip r:embed="rId3">
            <a:alphaModFix/>
          </a:blip>
          <a:srcRect b="0" l="0" r="0" t="0"/>
          <a:stretch/>
        </p:blipFill>
        <p:spPr>
          <a:xfrm>
            <a:off x="4619383" y="503556"/>
            <a:ext cx="3930724" cy="3900926"/>
          </a:xfrm>
          <a:prstGeom prst="rect">
            <a:avLst/>
          </a:prstGeom>
          <a:noFill/>
          <a:ln>
            <a:noFill/>
          </a:ln>
        </p:spPr>
      </p:pic>
      <p:pic>
        <p:nvPicPr>
          <p:cNvPr id="119" name="Google Shape;119;p19"/>
          <p:cNvPicPr preferRelativeResize="0"/>
          <p:nvPr/>
        </p:nvPicPr>
        <p:blipFill rotWithShape="1">
          <a:blip r:embed="rId4">
            <a:alphaModFix/>
          </a:blip>
          <a:srcRect b="0" l="0" r="0" t="0"/>
          <a:stretch/>
        </p:blipFill>
        <p:spPr>
          <a:xfrm>
            <a:off x="292892" y="1093304"/>
            <a:ext cx="3849499" cy="1815156"/>
          </a:xfrm>
          <a:prstGeom prst="rect">
            <a:avLst/>
          </a:prstGeom>
          <a:noFill/>
          <a:ln>
            <a:noFill/>
          </a:ln>
        </p:spPr>
      </p:pic>
      <p:sp>
        <p:nvSpPr>
          <p:cNvPr id="120" name="Google Shape;120;p19"/>
          <p:cNvSpPr txBox="1"/>
          <p:nvPr/>
        </p:nvSpPr>
        <p:spPr>
          <a:xfrm>
            <a:off x="113988" y="2995681"/>
            <a:ext cx="4410600" cy="1362300"/>
          </a:xfrm>
          <a:prstGeom prst="rect">
            <a:avLst/>
          </a:prstGeom>
          <a:noFill/>
          <a:ln>
            <a:noFill/>
          </a:ln>
        </p:spPr>
        <p:txBody>
          <a:bodyPr anchorCtr="0" anchor="t" bIns="34275" lIns="68575" spcFirstLastPara="1" rIns="68575" wrap="square" tIns="34275">
            <a:spAutoFit/>
          </a:bodyPr>
          <a:lstStyle/>
          <a:p>
            <a:pPr indent="-215900" lvl="0" marL="215900" marR="0" rtl="0" algn="l">
              <a:lnSpc>
                <a:spcPct val="100000"/>
              </a:lnSpc>
              <a:spcBef>
                <a:spcPts val="0"/>
              </a:spcBef>
              <a:spcAft>
                <a:spcPts val="0"/>
              </a:spcAft>
              <a:buClr>
                <a:schemeClr val="dk1"/>
              </a:buClr>
              <a:buSzPts val="1400"/>
              <a:buFont typeface="Arial"/>
              <a:buChar char="•"/>
            </a:pPr>
            <a:r>
              <a:rPr b="0" i="0" lang="zh-TW" sz="1400" u="none" cap="none" strike="noStrike">
                <a:solidFill>
                  <a:schemeClr val="dk1"/>
                </a:solidFill>
                <a:latin typeface="Arial"/>
                <a:ea typeface="Arial"/>
                <a:cs typeface="Arial"/>
                <a:sym typeface="Arial"/>
              </a:rPr>
              <a:t>Because of the boundary condition,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dk1"/>
                </a:solidFill>
                <a:latin typeface="Arial"/>
                <a:ea typeface="Arial"/>
                <a:cs typeface="Arial"/>
                <a:sym typeface="Arial"/>
              </a:rPr>
              <a:t>only certain mode can propagate in the wave guide.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215900" lvl="0" marL="215900" marR="0" rtl="0" algn="l">
              <a:lnSpc>
                <a:spcPct val="100000"/>
              </a:lnSpc>
              <a:spcBef>
                <a:spcPts val="0"/>
              </a:spcBef>
              <a:spcAft>
                <a:spcPts val="0"/>
              </a:spcAft>
              <a:buClr>
                <a:schemeClr val="dk1"/>
              </a:buClr>
              <a:buSzPts val="1400"/>
              <a:buFont typeface="Arial"/>
              <a:buChar char="•"/>
            </a:pPr>
            <a:r>
              <a:rPr b="0" i="0" lang="zh-TW" sz="1400" u="none" cap="none" strike="noStrike">
                <a:solidFill>
                  <a:schemeClr val="dk1"/>
                </a:solidFill>
                <a:latin typeface="Arial"/>
                <a:ea typeface="Arial"/>
                <a:cs typeface="Arial"/>
                <a:sym typeface="Arial"/>
              </a:rPr>
              <a:t> Also, we need the large difference of reflection index</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dk1"/>
                </a:solidFill>
                <a:latin typeface="Arial"/>
                <a:ea typeface="Arial"/>
                <a:cs typeface="Arial"/>
                <a:sym typeface="Arial"/>
              </a:rPr>
              <a:t>to get the good confinement of electric field.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Waveguide</a:t>
            </a:r>
            <a:endParaRPr/>
          </a:p>
        </p:txBody>
      </p:sp>
      <p:sp>
        <p:nvSpPr>
          <p:cNvPr id="126" name="Google Shape;126;p20"/>
          <p:cNvSpPr txBox="1"/>
          <p:nvPr>
            <p:ph idx="4294967295" type="body"/>
          </p:nvPr>
        </p:nvSpPr>
        <p:spPr>
          <a:xfrm>
            <a:off x="292892" y="503556"/>
            <a:ext cx="8558400" cy="2601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0"/>
              </a:spcBef>
              <a:spcAft>
                <a:spcPts val="1200"/>
              </a:spcAft>
              <a:buClr>
                <a:schemeClr val="accent1"/>
              </a:buClr>
              <a:buSzPct val="83333"/>
              <a:buNone/>
            </a:pPr>
            <a:r>
              <a:rPr lang="zh-TW"/>
              <a:t>SOI wave guide </a:t>
            </a:r>
            <a:endParaRPr/>
          </a:p>
        </p:txBody>
      </p:sp>
      <p:pic>
        <p:nvPicPr>
          <p:cNvPr id="127" name="Google Shape;127;p20"/>
          <p:cNvPicPr preferRelativeResize="0"/>
          <p:nvPr/>
        </p:nvPicPr>
        <p:blipFill rotWithShape="1">
          <a:blip r:embed="rId3">
            <a:alphaModFix/>
          </a:blip>
          <a:srcRect b="0" l="0" r="0" t="0"/>
          <a:stretch/>
        </p:blipFill>
        <p:spPr>
          <a:xfrm>
            <a:off x="600149" y="1699025"/>
            <a:ext cx="3265100" cy="2436375"/>
          </a:xfrm>
          <a:prstGeom prst="rect">
            <a:avLst/>
          </a:prstGeom>
          <a:noFill/>
          <a:ln>
            <a:noFill/>
          </a:ln>
        </p:spPr>
      </p:pic>
      <p:pic>
        <p:nvPicPr>
          <p:cNvPr id="128" name="Google Shape;128;p20"/>
          <p:cNvPicPr preferRelativeResize="0"/>
          <p:nvPr/>
        </p:nvPicPr>
        <p:blipFill rotWithShape="1">
          <a:blip r:embed="rId4">
            <a:alphaModFix/>
          </a:blip>
          <a:srcRect b="0" l="0" r="0" t="0"/>
          <a:stretch/>
        </p:blipFill>
        <p:spPr>
          <a:xfrm>
            <a:off x="5360992" y="2107407"/>
            <a:ext cx="3185029" cy="2027987"/>
          </a:xfrm>
          <a:prstGeom prst="rect">
            <a:avLst/>
          </a:prstGeom>
          <a:noFill/>
          <a:ln>
            <a:noFill/>
          </a:ln>
        </p:spPr>
      </p:pic>
      <p:sp>
        <p:nvSpPr>
          <p:cNvPr id="129" name="Google Shape;129;p20"/>
          <p:cNvSpPr txBox="1"/>
          <p:nvPr/>
        </p:nvSpPr>
        <p:spPr>
          <a:xfrm>
            <a:off x="213092" y="761372"/>
            <a:ext cx="6300000" cy="992700"/>
          </a:xfrm>
          <a:prstGeom prst="rect">
            <a:avLst/>
          </a:prstGeom>
          <a:noFill/>
          <a:ln>
            <a:noFill/>
          </a:ln>
        </p:spPr>
        <p:txBody>
          <a:bodyPr anchorCtr="0" anchor="t" bIns="34275" lIns="68575" spcFirstLastPara="1" rIns="68575" wrap="square" tIns="34275">
            <a:spAutoFit/>
          </a:bodyPr>
          <a:lstStyle/>
          <a:p>
            <a:pPr indent="-215900" lvl="0" marL="215900" marR="0" rtl="0" algn="l">
              <a:lnSpc>
                <a:spcPct val="100000"/>
              </a:lnSpc>
              <a:spcBef>
                <a:spcPts val="0"/>
              </a:spcBef>
              <a:spcAft>
                <a:spcPts val="0"/>
              </a:spcAft>
              <a:buClr>
                <a:srgbClr val="374151"/>
              </a:buClr>
              <a:buSzPts val="1200"/>
              <a:buFont typeface="Arial"/>
              <a:buChar char="•"/>
            </a:pPr>
            <a:r>
              <a:rPr b="0" i="0" lang="zh-TW" sz="1200" u="none" cap="none" strike="noStrike">
                <a:solidFill>
                  <a:srgbClr val="374151"/>
                </a:solidFill>
                <a:latin typeface="Arial"/>
                <a:ea typeface="Arial"/>
                <a:cs typeface="Arial"/>
                <a:sym typeface="Arial"/>
              </a:rPr>
              <a:t>The refractive index difference between Si and SiO2 is significant (3.47 &amp; 1.44 @ 1550nm). </a:t>
            </a:r>
            <a:endParaRPr b="0" i="0" sz="1100" u="none" cap="none" strike="noStrike">
              <a:solidFill>
                <a:srgbClr val="000000"/>
              </a:solidFill>
              <a:latin typeface="Arial"/>
              <a:ea typeface="Arial"/>
              <a:cs typeface="Arial"/>
              <a:sym typeface="Arial"/>
            </a:endParaRPr>
          </a:p>
          <a:p>
            <a:pPr indent="-215900" lvl="0" marL="215900" marR="0" rtl="0" algn="l">
              <a:lnSpc>
                <a:spcPct val="100000"/>
              </a:lnSpc>
              <a:spcBef>
                <a:spcPts val="0"/>
              </a:spcBef>
              <a:spcAft>
                <a:spcPts val="0"/>
              </a:spcAft>
              <a:buClr>
                <a:srgbClr val="374151"/>
              </a:buClr>
              <a:buSzPts val="1200"/>
              <a:buFont typeface="Arial"/>
              <a:buChar char="•"/>
            </a:pPr>
            <a:r>
              <a:rPr b="0" i="0" lang="zh-TW" sz="1200" u="none" cap="none" strike="noStrike">
                <a:solidFill>
                  <a:srgbClr val="374151"/>
                </a:solidFill>
                <a:latin typeface="Arial"/>
                <a:ea typeface="Arial"/>
                <a:cs typeface="Arial"/>
                <a:sym typeface="Arial"/>
              </a:rPr>
              <a:t>This high difference of n means it has an excellent ability to confine optical fields. </a:t>
            </a:r>
            <a:endParaRPr b="0" i="0" sz="1100" u="none" cap="none" strike="noStrike">
              <a:solidFill>
                <a:srgbClr val="000000"/>
              </a:solidFill>
              <a:latin typeface="Arial"/>
              <a:ea typeface="Arial"/>
              <a:cs typeface="Arial"/>
              <a:sym typeface="Arial"/>
            </a:endParaRPr>
          </a:p>
          <a:p>
            <a:pPr indent="-215900" lvl="0" marL="215900" marR="0" rtl="0" algn="l">
              <a:lnSpc>
                <a:spcPct val="100000"/>
              </a:lnSpc>
              <a:spcBef>
                <a:spcPts val="0"/>
              </a:spcBef>
              <a:spcAft>
                <a:spcPts val="0"/>
              </a:spcAft>
              <a:buClr>
                <a:srgbClr val="374151"/>
              </a:buClr>
              <a:buSzPts val="1200"/>
              <a:buFont typeface="Arial"/>
              <a:buChar char="•"/>
            </a:pPr>
            <a:r>
              <a:rPr b="0" i="0" lang="zh-TW" sz="1200" u="none" cap="none" strike="noStrike">
                <a:solidFill>
                  <a:srgbClr val="374151"/>
                </a:solidFill>
                <a:latin typeface="Arial"/>
                <a:ea typeface="Arial"/>
                <a:cs typeface="Arial"/>
                <a:sym typeface="Arial"/>
              </a:rPr>
              <a:t>The SOI wafer is compatible with the semiconductor process</a:t>
            </a:r>
            <a:endParaRPr b="0" i="0" sz="1100" u="none" cap="none" strike="noStrike">
              <a:solidFill>
                <a:srgbClr val="000000"/>
              </a:solidFill>
              <a:latin typeface="Arial"/>
              <a:ea typeface="Arial"/>
              <a:cs typeface="Arial"/>
              <a:sym typeface="Arial"/>
            </a:endParaRPr>
          </a:p>
          <a:p>
            <a:pPr indent="-215900" lvl="0" marL="215900" marR="0" rtl="0" algn="l">
              <a:lnSpc>
                <a:spcPct val="100000"/>
              </a:lnSpc>
              <a:spcBef>
                <a:spcPts val="0"/>
              </a:spcBef>
              <a:spcAft>
                <a:spcPts val="0"/>
              </a:spcAft>
              <a:buClr>
                <a:srgbClr val="374151"/>
              </a:buClr>
              <a:buSzPts val="1200"/>
              <a:buFont typeface="Arial"/>
              <a:buChar char="•"/>
            </a:pPr>
            <a:r>
              <a:rPr b="0" i="0" lang="zh-TW" sz="1200" u="none" cap="none" strike="noStrike">
                <a:solidFill>
                  <a:srgbClr val="374151"/>
                </a:solidFill>
                <a:latin typeface="Arial"/>
                <a:ea typeface="Arial"/>
                <a:cs typeface="Arial"/>
                <a:sym typeface="Arial"/>
              </a:rPr>
              <a:t>The production cost of SOI is high</a:t>
            </a:r>
            <a:endParaRPr b="0" i="0" sz="1200" u="none" cap="none" strike="noStrike">
              <a:solidFill>
                <a:schemeClr val="dk1"/>
              </a:solidFill>
              <a:latin typeface="Arial"/>
              <a:ea typeface="Arial"/>
              <a:cs typeface="Arial"/>
              <a:sym typeface="Arial"/>
            </a:endParaRPr>
          </a:p>
        </p:txBody>
      </p:sp>
      <p:sp>
        <p:nvSpPr>
          <p:cNvPr id="130" name="Google Shape;130;p20"/>
          <p:cNvSpPr txBox="1"/>
          <p:nvPr/>
        </p:nvSpPr>
        <p:spPr>
          <a:xfrm>
            <a:off x="5361003" y="4162871"/>
            <a:ext cx="35358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900"/>
              <a:buFont typeface="Arial"/>
              <a:buNone/>
            </a:pPr>
            <a:r>
              <a:rPr b="0" i="0" lang="zh-TW" sz="900" u="none" cap="none" strike="noStrike">
                <a:solidFill>
                  <a:schemeClr val="dk1"/>
                </a:solidFill>
                <a:latin typeface="Arial"/>
                <a:ea typeface="Arial"/>
                <a:cs typeface="Arial"/>
                <a:sym typeface="Arial"/>
              </a:rPr>
              <a:t>Loss is dependent on wavelength(because of n(reflection index) )</a:t>
            </a:r>
            <a:endParaRPr b="0" i="0" sz="1100" u="none" cap="none" strike="noStrike">
              <a:solidFill>
                <a:srgbClr val="000000"/>
              </a:solidFill>
              <a:latin typeface="Arial"/>
              <a:ea typeface="Arial"/>
              <a:cs typeface="Arial"/>
              <a:sym typeface="Arial"/>
            </a:endParaRPr>
          </a:p>
        </p:txBody>
      </p:sp>
      <p:grpSp>
        <p:nvGrpSpPr>
          <p:cNvPr id="131" name="Google Shape;131;p20"/>
          <p:cNvGrpSpPr/>
          <p:nvPr/>
        </p:nvGrpSpPr>
        <p:grpSpPr>
          <a:xfrm>
            <a:off x="5991543" y="410171"/>
            <a:ext cx="2857705" cy="1798261"/>
            <a:chOff x="7762354" y="557749"/>
            <a:chExt cx="3810274" cy="2397682"/>
          </a:xfrm>
        </p:grpSpPr>
        <p:pic>
          <p:nvPicPr>
            <p:cNvPr descr="A diagram of a rectangular object&#10;&#10;Description automatically generated" id="132" name="Google Shape;132;p20"/>
            <p:cNvPicPr preferRelativeResize="0"/>
            <p:nvPr/>
          </p:nvPicPr>
          <p:blipFill rotWithShape="1">
            <a:blip r:embed="rId5">
              <a:alphaModFix/>
            </a:blip>
            <a:srcRect b="0" l="0" r="0" t="0"/>
            <a:stretch/>
          </p:blipFill>
          <p:spPr>
            <a:xfrm>
              <a:off x="7762354" y="557749"/>
              <a:ext cx="3580029" cy="2372609"/>
            </a:xfrm>
            <a:prstGeom prst="rect">
              <a:avLst/>
            </a:prstGeom>
            <a:noFill/>
            <a:ln>
              <a:noFill/>
            </a:ln>
          </p:spPr>
        </p:pic>
        <p:sp>
          <p:nvSpPr>
            <p:cNvPr id="133" name="Google Shape;133;p20"/>
            <p:cNvSpPr txBox="1"/>
            <p:nvPr/>
          </p:nvSpPr>
          <p:spPr>
            <a:xfrm>
              <a:off x="10838828" y="2113554"/>
              <a:ext cx="733800" cy="379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dk1"/>
                  </a:solidFill>
                  <a:latin typeface="Arial"/>
                  <a:ea typeface="Arial"/>
                  <a:cs typeface="Arial"/>
                  <a:sym typeface="Arial"/>
                </a:rPr>
                <a:t>SiO</a:t>
              </a:r>
              <a:r>
                <a:rPr b="0" baseline="-25000" i="0" lang="zh-TW" sz="1400" u="none" cap="none" strike="noStrike">
                  <a:solidFill>
                    <a:schemeClr val="dk1"/>
                  </a:solidFill>
                  <a:latin typeface="Arial"/>
                  <a:ea typeface="Arial"/>
                  <a:cs typeface="Arial"/>
                  <a:sym typeface="Arial"/>
                </a:rPr>
                <a:t>2</a:t>
              </a:r>
              <a:r>
                <a:rPr b="0" i="0" lang="zh-TW" sz="14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p:txBody>
        </p:sp>
        <p:cxnSp>
          <p:nvCxnSpPr>
            <p:cNvPr id="134" name="Google Shape;134;p20"/>
            <p:cNvCxnSpPr>
              <a:endCxn id="133" idx="1"/>
            </p:cNvCxnSpPr>
            <p:nvPr/>
          </p:nvCxnSpPr>
          <p:spPr>
            <a:xfrm flipH="1" rot="10800000">
              <a:off x="9740228" y="2303304"/>
              <a:ext cx="1098600" cy="32100"/>
            </a:xfrm>
            <a:prstGeom prst="straightConnector1">
              <a:avLst/>
            </a:prstGeom>
            <a:noFill/>
            <a:ln cap="flat" cmpd="sng" w="9525">
              <a:solidFill>
                <a:srgbClr val="7F7F7F"/>
              </a:solidFill>
              <a:prstDash val="solid"/>
              <a:miter lim="800000"/>
              <a:headEnd len="sm" w="sm" type="none"/>
              <a:tailEnd len="med" w="med" type="triangle"/>
            </a:ln>
          </p:spPr>
        </p:cxnSp>
        <p:cxnSp>
          <p:nvCxnSpPr>
            <p:cNvPr id="135" name="Google Shape;135;p20"/>
            <p:cNvCxnSpPr/>
            <p:nvPr/>
          </p:nvCxnSpPr>
          <p:spPr>
            <a:xfrm>
              <a:off x="10727859" y="1137535"/>
              <a:ext cx="366900" cy="1008000"/>
            </a:xfrm>
            <a:prstGeom prst="straightConnector1">
              <a:avLst/>
            </a:prstGeom>
            <a:noFill/>
            <a:ln cap="flat" cmpd="sng" w="9525">
              <a:solidFill>
                <a:srgbClr val="7F7F7F"/>
              </a:solidFill>
              <a:prstDash val="solid"/>
              <a:miter lim="800000"/>
              <a:headEnd len="sm" w="sm" type="none"/>
              <a:tailEnd len="med" w="med" type="triangle"/>
            </a:ln>
          </p:spPr>
        </p:cxnSp>
        <p:cxnSp>
          <p:nvCxnSpPr>
            <p:cNvPr id="136" name="Google Shape;136;p20"/>
            <p:cNvCxnSpPr/>
            <p:nvPr/>
          </p:nvCxnSpPr>
          <p:spPr>
            <a:xfrm>
              <a:off x="9359897" y="2323244"/>
              <a:ext cx="526200" cy="437400"/>
            </a:xfrm>
            <a:prstGeom prst="straightConnector1">
              <a:avLst/>
            </a:prstGeom>
            <a:noFill/>
            <a:ln cap="flat" cmpd="sng" w="9525">
              <a:solidFill>
                <a:schemeClr val="dk1"/>
              </a:solidFill>
              <a:prstDash val="solid"/>
              <a:miter lim="800000"/>
              <a:headEnd len="sm" w="sm" type="none"/>
              <a:tailEnd len="med" w="med" type="triangle"/>
            </a:ln>
          </p:spPr>
        </p:cxnSp>
        <p:sp>
          <p:nvSpPr>
            <p:cNvPr id="137" name="Google Shape;137;p20"/>
            <p:cNvSpPr txBox="1"/>
            <p:nvPr/>
          </p:nvSpPr>
          <p:spPr>
            <a:xfrm>
              <a:off x="9886122" y="2575931"/>
              <a:ext cx="444000" cy="379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dk1"/>
                  </a:solidFill>
                  <a:latin typeface="Arial"/>
                  <a:ea typeface="Arial"/>
                  <a:cs typeface="Arial"/>
                  <a:sym typeface="Arial"/>
                </a:rPr>
                <a:t>Si </a:t>
              </a:r>
              <a:endParaRPr b="0" i="0" sz="1400" u="none" cap="none" strike="noStrike">
                <a:solidFill>
                  <a:schemeClr val="dk1"/>
                </a:solidFill>
                <a:latin typeface="Arial"/>
                <a:ea typeface="Arial"/>
                <a:cs typeface="Arial"/>
                <a:sym typeface="Arial"/>
              </a:endParaRPr>
            </a:p>
          </p:txBody>
        </p:sp>
      </p:grpSp>
      <p:sp>
        <p:nvSpPr>
          <p:cNvPr id="138" name="Google Shape;138;p20"/>
          <p:cNvSpPr txBox="1"/>
          <p:nvPr/>
        </p:nvSpPr>
        <p:spPr>
          <a:xfrm>
            <a:off x="958543" y="4162874"/>
            <a:ext cx="29067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900"/>
              <a:buFont typeface="Arial"/>
              <a:buNone/>
            </a:pPr>
            <a:r>
              <a:rPr b="0" i="0" lang="zh-TW" sz="900" u="none" cap="none" strike="noStrike">
                <a:solidFill>
                  <a:schemeClr val="dk1"/>
                </a:solidFill>
                <a:latin typeface="Arial"/>
                <a:ea typeface="Arial"/>
                <a:cs typeface="Arial"/>
                <a:sym typeface="Arial"/>
              </a:rPr>
              <a:t>Good confinement of electric field(rib waveguide) </a:t>
            </a:r>
            <a:endParaRPr b="0" i="0" sz="1100" u="none" cap="none" strike="noStrike">
              <a:solidFill>
                <a:srgbClr val="000000"/>
              </a:solidFill>
              <a:latin typeface="Arial"/>
              <a:ea typeface="Arial"/>
              <a:cs typeface="Arial"/>
              <a:sym typeface="Arial"/>
            </a:endParaRPr>
          </a:p>
        </p:txBody>
      </p:sp>
      <p:sp>
        <p:nvSpPr>
          <p:cNvPr id="139" name="Google Shape;139;p20"/>
          <p:cNvSpPr txBox="1"/>
          <p:nvPr/>
        </p:nvSpPr>
        <p:spPr>
          <a:xfrm>
            <a:off x="4577696" y="2402999"/>
            <a:ext cx="5505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dk1"/>
                </a:solidFill>
                <a:latin typeface="Arial"/>
                <a:ea typeface="Arial"/>
                <a:cs typeface="Arial"/>
                <a:sym typeface="Arial"/>
              </a:rPr>
              <a:t>SiO</a:t>
            </a:r>
            <a:r>
              <a:rPr b="0" baseline="-25000" i="0" lang="zh-TW" sz="1400" u="none" cap="none" strike="noStrike">
                <a:solidFill>
                  <a:schemeClr val="dk1"/>
                </a:solidFill>
                <a:latin typeface="Arial"/>
                <a:ea typeface="Arial"/>
                <a:cs typeface="Arial"/>
                <a:sym typeface="Arial"/>
              </a:rPr>
              <a:t>2</a:t>
            </a:r>
            <a:r>
              <a:rPr b="0" i="0" lang="zh-TW" sz="14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p:txBody>
      </p:sp>
      <p:cxnSp>
        <p:nvCxnSpPr>
          <p:cNvPr id="140" name="Google Shape;140;p20"/>
          <p:cNvCxnSpPr/>
          <p:nvPr/>
        </p:nvCxnSpPr>
        <p:spPr>
          <a:xfrm flipH="1" rot="10800000">
            <a:off x="4160069" y="2564749"/>
            <a:ext cx="411900" cy="32400"/>
          </a:xfrm>
          <a:prstGeom prst="straightConnector1">
            <a:avLst/>
          </a:prstGeom>
          <a:noFill/>
          <a:ln cap="flat" cmpd="sng" w="9525">
            <a:solidFill>
              <a:srgbClr val="7F7F7F"/>
            </a:solidFill>
            <a:prstDash val="solid"/>
            <a:miter lim="800000"/>
            <a:headEnd len="sm" w="sm" type="none"/>
            <a:tailEnd len="med" w="med" type="triangle"/>
          </a:ln>
        </p:spPr>
      </p:cxnSp>
      <p:cxnSp>
        <p:nvCxnSpPr>
          <p:cNvPr id="141" name="Google Shape;141;p20"/>
          <p:cNvCxnSpPr/>
          <p:nvPr/>
        </p:nvCxnSpPr>
        <p:spPr>
          <a:xfrm flipH="1" rot="10800000">
            <a:off x="3800081" y="3076838"/>
            <a:ext cx="447300" cy="195600"/>
          </a:xfrm>
          <a:prstGeom prst="straightConnector1">
            <a:avLst/>
          </a:prstGeom>
          <a:noFill/>
          <a:ln cap="flat" cmpd="sng" w="9525">
            <a:solidFill>
              <a:schemeClr val="dk1"/>
            </a:solidFill>
            <a:prstDash val="solid"/>
            <a:miter lim="800000"/>
            <a:headEnd len="sm" w="sm" type="none"/>
            <a:tailEnd len="med" w="med" type="triangle"/>
          </a:ln>
        </p:spPr>
      </p:cxnSp>
      <p:sp>
        <p:nvSpPr>
          <p:cNvPr id="142" name="Google Shape;142;p20"/>
          <p:cNvSpPr txBox="1"/>
          <p:nvPr/>
        </p:nvSpPr>
        <p:spPr>
          <a:xfrm>
            <a:off x="4527350" y="3076848"/>
            <a:ext cx="3330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dk1"/>
                </a:solidFill>
                <a:latin typeface="Arial"/>
                <a:ea typeface="Arial"/>
                <a:cs typeface="Arial"/>
                <a:sym typeface="Arial"/>
              </a:rPr>
              <a:t>Si </a:t>
            </a:r>
            <a:endParaRPr b="0" i="0" sz="1400" u="none" cap="none" strike="noStrike">
              <a:solidFill>
                <a:schemeClr val="dk1"/>
              </a:solidFill>
              <a:latin typeface="Arial"/>
              <a:ea typeface="Arial"/>
              <a:cs typeface="Arial"/>
              <a:sym typeface="Arial"/>
            </a:endParaRPr>
          </a:p>
        </p:txBody>
      </p:sp>
      <p:cxnSp>
        <p:nvCxnSpPr>
          <p:cNvPr id="143" name="Google Shape;143;p20"/>
          <p:cNvCxnSpPr/>
          <p:nvPr/>
        </p:nvCxnSpPr>
        <p:spPr>
          <a:xfrm flipH="1" rot="10800000">
            <a:off x="3941612" y="2640425"/>
            <a:ext cx="636000" cy="1343100"/>
          </a:xfrm>
          <a:prstGeom prst="straightConnector1">
            <a:avLst/>
          </a:prstGeom>
          <a:noFill/>
          <a:ln cap="flat" cmpd="sng" w="9525">
            <a:solidFill>
              <a:srgbClr val="7F7F7F"/>
            </a:solidFill>
            <a:prstDash val="solid"/>
            <a:miter lim="800000"/>
            <a:headEnd len="sm" w="sm" type="none"/>
            <a:tailEnd len="med" w="med" type="triangle"/>
          </a:ln>
        </p:spPr>
      </p:cxnSp>
      <p:sp>
        <p:nvSpPr>
          <p:cNvPr id="144" name="Google Shape;144;p20"/>
          <p:cNvSpPr txBox="1"/>
          <p:nvPr/>
        </p:nvSpPr>
        <p:spPr>
          <a:xfrm>
            <a:off x="100" y="4322050"/>
            <a:ext cx="9144000" cy="86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1500"/>
              </a:spcAft>
              <a:buNone/>
            </a:pPr>
            <a:r>
              <a:rPr lang="zh-TW" sz="1000">
                <a:solidFill>
                  <a:srgbClr val="0D0D0D"/>
                </a:solidFill>
                <a:highlight>
                  <a:srgbClr val="FFFFFF"/>
                </a:highlight>
                <a:latin typeface="Ubuntu"/>
                <a:ea typeface="Ubuntu"/>
                <a:cs typeface="Ubuntu"/>
                <a:sym typeface="Ubuntu"/>
              </a:rPr>
              <a:t>SOI（矽氧化物絕緣體）光波導是一種重要的集成光學平台，廣泛應用於光通訊領域。SOI光波導的核心技術在於利用矽（Si）和氧化矽（SiO2）兩種材料的折射率差異來實現光的有效導引。在SOI結構中，矽層作為導光層，而氧化矽層則作為底層來支撐矽層並提供光學隔離。SOI光波導在1.3微米（um）以上的波長表現出低損耗的特性。這一波長範圍不僅涵蓋了光通訊中常用的O與C波段（1.31和1.55微米波段），這些都是光纖通訊中重要的傳輸窗口。低損耗特性意味著光在傳輸過程中的能量損失極低，這對於提高通訊距離和信號品質至關重要</a:t>
            </a:r>
            <a:endParaRPr>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Directional coupler</a:t>
            </a:r>
            <a:br>
              <a:rPr lang="zh-TW"/>
            </a:br>
            <a:endParaRPr/>
          </a:p>
        </p:txBody>
      </p:sp>
      <p:sp>
        <p:nvSpPr>
          <p:cNvPr id="150" name="Google Shape;150;p21"/>
          <p:cNvSpPr txBox="1"/>
          <p:nvPr>
            <p:ph idx="4294967295" type="body"/>
          </p:nvPr>
        </p:nvSpPr>
        <p:spPr>
          <a:xfrm>
            <a:off x="292892" y="503556"/>
            <a:ext cx="8558400" cy="2601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0"/>
              </a:spcBef>
              <a:spcAft>
                <a:spcPts val="1200"/>
              </a:spcAft>
              <a:buClr>
                <a:schemeClr val="accent1"/>
              </a:buClr>
              <a:buSzPct val="83333"/>
              <a:buNone/>
            </a:pPr>
            <a:r>
              <a:rPr lang="zh-TW"/>
              <a:t>Directional coupler principle</a:t>
            </a:r>
            <a:endParaRPr/>
          </a:p>
        </p:txBody>
      </p:sp>
      <p:pic>
        <p:nvPicPr>
          <p:cNvPr descr="Sensors | Free Full-Text | Optimizing SOI Slot Waveguide Fabrication  Tolerances and Strip-Slot Coupling for Very Efficient Optical Sensing" id="151" name="Google Shape;151;p21"/>
          <p:cNvPicPr preferRelativeResize="0"/>
          <p:nvPr/>
        </p:nvPicPr>
        <p:blipFill rotWithShape="1">
          <a:blip r:embed="rId3">
            <a:alphaModFix/>
          </a:blip>
          <a:srcRect b="0" l="0" r="0" t="0"/>
          <a:stretch/>
        </p:blipFill>
        <p:spPr>
          <a:xfrm>
            <a:off x="434956" y="727892"/>
            <a:ext cx="3419196" cy="1659864"/>
          </a:xfrm>
          <a:prstGeom prst="rect">
            <a:avLst/>
          </a:prstGeom>
          <a:noFill/>
          <a:ln>
            <a:noFill/>
          </a:ln>
        </p:spPr>
      </p:pic>
      <p:pic>
        <p:nvPicPr>
          <p:cNvPr descr="A computer screen shot of a blue and white diagram" id="152" name="Google Shape;152;p21"/>
          <p:cNvPicPr preferRelativeResize="0"/>
          <p:nvPr/>
        </p:nvPicPr>
        <p:blipFill rotWithShape="1">
          <a:blip r:embed="rId4">
            <a:alphaModFix/>
          </a:blip>
          <a:srcRect b="0" l="11530" r="11453" t="0"/>
          <a:stretch/>
        </p:blipFill>
        <p:spPr>
          <a:xfrm>
            <a:off x="4607022" y="992652"/>
            <a:ext cx="4260580" cy="2314315"/>
          </a:xfrm>
          <a:prstGeom prst="rect">
            <a:avLst/>
          </a:prstGeom>
          <a:noFill/>
          <a:ln>
            <a:noFill/>
          </a:ln>
        </p:spPr>
      </p:pic>
      <p:pic>
        <p:nvPicPr>
          <p:cNvPr id="153" name="Google Shape;153;p21"/>
          <p:cNvPicPr preferRelativeResize="0"/>
          <p:nvPr/>
        </p:nvPicPr>
        <p:blipFill rotWithShape="1">
          <a:blip r:embed="rId5">
            <a:alphaModFix/>
          </a:blip>
          <a:srcRect b="0" l="0" r="0" t="0"/>
          <a:stretch/>
        </p:blipFill>
        <p:spPr>
          <a:xfrm>
            <a:off x="104138" y="3041692"/>
            <a:ext cx="4398746" cy="1863202"/>
          </a:xfrm>
          <a:prstGeom prst="rect">
            <a:avLst/>
          </a:prstGeom>
          <a:noFill/>
          <a:ln>
            <a:noFill/>
          </a:ln>
        </p:spPr>
      </p:pic>
      <p:sp>
        <p:nvSpPr>
          <p:cNvPr id="154" name="Google Shape;154;p21"/>
          <p:cNvSpPr txBox="1"/>
          <p:nvPr/>
        </p:nvSpPr>
        <p:spPr>
          <a:xfrm>
            <a:off x="5033989" y="3802532"/>
            <a:ext cx="39597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374151"/>
                </a:solidFill>
                <a:latin typeface="Arial"/>
                <a:ea typeface="Arial"/>
                <a:cs typeface="Arial"/>
                <a:sym typeface="Arial"/>
              </a:rPr>
              <a:t>By adjust the distance between trace can control the coupling strength</a:t>
            </a:r>
            <a:endParaRPr b="0" i="0" sz="1100" u="none" cap="none" strike="noStrike">
              <a:solidFill>
                <a:srgbClr val="000000"/>
              </a:solidFill>
              <a:latin typeface="Arial"/>
              <a:ea typeface="Arial"/>
              <a:cs typeface="Arial"/>
              <a:sym typeface="Arial"/>
            </a:endParaRPr>
          </a:p>
        </p:txBody>
      </p:sp>
      <p:sp>
        <p:nvSpPr>
          <p:cNvPr id="155" name="Google Shape;155;p21"/>
          <p:cNvSpPr/>
          <p:nvPr/>
        </p:nvSpPr>
        <p:spPr>
          <a:xfrm>
            <a:off x="6652761" y="3339719"/>
            <a:ext cx="360900" cy="377700"/>
          </a:xfrm>
          <a:prstGeom prst="upArrow">
            <a:avLst>
              <a:gd fmla="val 50000" name="adj1"/>
              <a:gd fmla="val 50000" name="adj2"/>
            </a:avLst>
          </a:prstGeom>
          <a:solidFill>
            <a:schemeClr val="accent1"/>
          </a:solidFill>
          <a:ln cap="flat" cmpd="sng" w="12700">
            <a:solidFill>
              <a:srgbClr val="153E4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6" name="Google Shape;156;p21"/>
          <p:cNvSpPr txBox="1"/>
          <p:nvPr/>
        </p:nvSpPr>
        <p:spPr>
          <a:xfrm>
            <a:off x="52069" y="2361350"/>
            <a:ext cx="4503000" cy="669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300"/>
              <a:buFont typeface="Arial"/>
              <a:buNone/>
            </a:pPr>
            <a:r>
              <a:rPr b="0" i="0" lang="zh-TW" sz="1300" u="none" cap="none" strike="noStrike">
                <a:solidFill>
                  <a:srgbClr val="374151"/>
                </a:solidFill>
                <a:latin typeface="Arial"/>
                <a:ea typeface="Arial"/>
                <a:cs typeface="Arial"/>
                <a:sym typeface="Arial"/>
              </a:rPr>
              <a:t>When the trace too close, they will form the new wave guide.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zh-TW" sz="1300" u="none" cap="none" strike="noStrike">
                <a:solidFill>
                  <a:srgbClr val="374151"/>
                </a:solidFill>
                <a:latin typeface="Arial"/>
                <a:ea typeface="Arial"/>
                <a:cs typeface="Arial"/>
                <a:sym typeface="Arial"/>
              </a:rPr>
              <a:t>Light can couple to another trace under certain conditions. </a:t>
            </a:r>
            <a:endParaRPr b="0" i="0" sz="1100" u="none" cap="none" strike="noStrike">
              <a:solidFill>
                <a:srgbClr val="000000"/>
              </a:solidFill>
              <a:latin typeface="Arial"/>
              <a:ea typeface="Arial"/>
              <a:cs typeface="Arial"/>
              <a:sym typeface="Arial"/>
            </a:endParaRPr>
          </a:p>
        </p:txBody>
      </p:sp>
      <p:cxnSp>
        <p:nvCxnSpPr>
          <p:cNvPr id="157" name="Google Shape;157;p21"/>
          <p:cNvCxnSpPr/>
          <p:nvPr/>
        </p:nvCxnSpPr>
        <p:spPr>
          <a:xfrm rot="10800000">
            <a:off x="1025188" y="1710933"/>
            <a:ext cx="888600" cy="743100"/>
          </a:xfrm>
          <a:prstGeom prst="straightConnector1">
            <a:avLst/>
          </a:prstGeom>
          <a:noFill/>
          <a:ln cap="flat" cmpd="sng" w="38100">
            <a:solidFill>
              <a:schemeClr val="accent1"/>
            </a:solidFill>
            <a:prstDash val="solid"/>
            <a:miter lim="800000"/>
            <a:headEnd len="sm" w="sm" type="none"/>
            <a:tailEnd len="med" w="med" type="triangle"/>
          </a:ln>
        </p:spPr>
      </p:cxnSp>
      <p:cxnSp>
        <p:nvCxnSpPr>
          <p:cNvPr id="158" name="Google Shape;158;p21"/>
          <p:cNvCxnSpPr/>
          <p:nvPr/>
        </p:nvCxnSpPr>
        <p:spPr>
          <a:xfrm flipH="1" rot="10800000">
            <a:off x="1985877" y="1808279"/>
            <a:ext cx="1033500" cy="636000"/>
          </a:xfrm>
          <a:prstGeom prst="straightConnector1">
            <a:avLst/>
          </a:prstGeom>
          <a:noFill/>
          <a:ln cap="flat" cmpd="sng" w="38100">
            <a:solidFill>
              <a:schemeClr val="accent1"/>
            </a:solidFill>
            <a:prstDash val="solid"/>
            <a:miter lim="800000"/>
            <a:headEnd len="sm" w="sm" type="none"/>
            <a:tailEnd len="med" w="med" type="triangle"/>
          </a:ln>
        </p:spPr>
      </p:cxnSp>
      <p:sp>
        <p:nvSpPr>
          <p:cNvPr id="159" name="Google Shape;159;p21"/>
          <p:cNvSpPr/>
          <p:nvPr/>
        </p:nvSpPr>
        <p:spPr>
          <a:xfrm>
            <a:off x="822960" y="3476950"/>
            <a:ext cx="1176900" cy="616200"/>
          </a:xfrm>
          <a:prstGeom prst="roundRect">
            <a:avLst>
              <a:gd fmla="val 16667" name="adj"/>
            </a:avLst>
          </a:prstGeom>
          <a:noFill/>
          <a:ln cap="flat" cmpd="sng" w="57150">
            <a:solidFill>
              <a:srgbClr val="FFC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0" name="Google Shape;160;p21"/>
          <p:cNvSpPr/>
          <p:nvPr/>
        </p:nvSpPr>
        <p:spPr>
          <a:xfrm>
            <a:off x="2411128" y="3463577"/>
            <a:ext cx="1176900" cy="616200"/>
          </a:xfrm>
          <a:prstGeom prst="roundRect">
            <a:avLst>
              <a:gd fmla="val 16667" name="adj"/>
            </a:avLst>
          </a:prstGeom>
          <a:noFill/>
          <a:ln cap="flat" cmpd="sng" w="57150">
            <a:solidFill>
              <a:srgbClr val="FFC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1" name="Google Shape;161;p21"/>
          <p:cNvSpPr txBox="1"/>
          <p:nvPr/>
        </p:nvSpPr>
        <p:spPr>
          <a:xfrm>
            <a:off x="4607025" y="4302625"/>
            <a:ext cx="4503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200">
                <a:solidFill>
                  <a:srgbClr val="0D0D0D"/>
                </a:solidFill>
                <a:highlight>
                  <a:srgbClr val="FFFFFF"/>
                </a:highlight>
                <a:latin typeface="Ubuntu"/>
                <a:ea typeface="Ubuntu"/>
                <a:cs typeface="Ubuntu"/>
                <a:sym typeface="Ubuntu"/>
              </a:rPr>
              <a:t>方向耦合器是一種常用於光通訊和集成光學的裝置，能夠將光信號從一條波導耦合到另一條波導。這種耦合過程主要取決於兩條波導間的距離和相互作用長度。</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2"/>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I/O couple</a:t>
            </a:r>
            <a:endParaRPr/>
          </a:p>
        </p:txBody>
      </p:sp>
      <p:sp>
        <p:nvSpPr>
          <p:cNvPr id="167" name="Google Shape;167;p22"/>
          <p:cNvSpPr txBox="1"/>
          <p:nvPr>
            <p:ph idx="4294967295" type="body"/>
          </p:nvPr>
        </p:nvSpPr>
        <p:spPr>
          <a:xfrm>
            <a:off x="292892" y="503556"/>
            <a:ext cx="8558400" cy="2601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0"/>
              </a:spcBef>
              <a:spcAft>
                <a:spcPts val="1200"/>
              </a:spcAft>
              <a:buClr>
                <a:schemeClr val="accent1"/>
              </a:buClr>
              <a:buSzPct val="83333"/>
              <a:buNone/>
            </a:pPr>
            <a:r>
              <a:rPr lang="zh-TW"/>
              <a:t>Edge couple</a:t>
            </a:r>
            <a:endParaRPr/>
          </a:p>
        </p:txBody>
      </p:sp>
      <p:pic>
        <p:nvPicPr>
          <p:cNvPr descr="Applied Sciences | Free Full-Text | Photonic Packaging: Transforming Silicon Photonic Integrated ..." id="168" name="Google Shape;168;p22"/>
          <p:cNvPicPr preferRelativeResize="0"/>
          <p:nvPr/>
        </p:nvPicPr>
        <p:blipFill rotWithShape="1">
          <a:blip r:embed="rId3">
            <a:alphaModFix/>
          </a:blip>
          <a:srcRect b="0" l="0" r="0" t="0"/>
          <a:stretch/>
        </p:blipFill>
        <p:spPr>
          <a:xfrm>
            <a:off x="19293" y="975107"/>
            <a:ext cx="4552706" cy="2864066"/>
          </a:xfrm>
          <a:prstGeom prst="rect">
            <a:avLst/>
          </a:prstGeom>
          <a:noFill/>
          <a:ln>
            <a:noFill/>
          </a:ln>
        </p:spPr>
      </p:pic>
      <p:pic>
        <p:nvPicPr>
          <p:cNvPr id="169" name="Google Shape;169;p22"/>
          <p:cNvPicPr preferRelativeResize="0"/>
          <p:nvPr/>
        </p:nvPicPr>
        <p:blipFill rotWithShape="1">
          <a:blip r:embed="rId4">
            <a:alphaModFix/>
          </a:blip>
          <a:srcRect b="0" l="0" r="0" t="0"/>
          <a:stretch/>
        </p:blipFill>
        <p:spPr>
          <a:xfrm>
            <a:off x="4571999" y="1037376"/>
            <a:ext cx="4535497" cy="2669954"/>
          </a:xfrm>
          <a:prstGeom prst="rect">
            <a:avLst/>
          </a:prstGeom>
          <a:noFill/>
          <a:ln>
            <a:noFill/>
          </a:ln>
        </p:spPr>
      </p:pic>
      <p:sp>
        <p:nvSpPr>
          <p:cNvPr id="170" name="Google Shape;170;p22"/>
          <p:cNvSpPr txBox="1"/>
          <p:nvPr/>
        </p:nvSpPr>
        <p:spPr>
          <a:xfrm>
            <a:off x="109450" y="3839175"/>
            <a:ext cx="8925300" cy="121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zh-TW" sz="1200">
                <a:solidFill>
                  <a:srgbClr val="0D0D0D"/>
                </a:solidFill>
                <a:highlight>
                  <a:srgbClr val="FFFFFF"/>
                </a:highlight>
                <a:latin typeface="Ubuntu"/>
                <a:ea typeface="Ubuntu"/>
                <a:cs typeface="Ubuntu"/>
                <a:sym typeface="Ubuntu"/>
              </a:rPr>
              <a:t>邊緣耦合是一種常用於實現高效率光信號從光纖到波導或芯片的轉移的技術。通過使用精確製作的鏡頭光纖和精細設計的模式轉換器，可以最大化入射光信號的耦合效率，從而降低能量損失，提高整體系統的性能。</a:t>
            </a:r>
            <a:endParaRPr sz="1200">
              <a:solidFill>
                <a:srgbClr val="0D0D0D"/>
              </a:solidFill>
              <a:highlight>
                <a:srgbClr val="FFFFFF"/>
              </a:highlight>
              <a:latin typeface="Ubuntu"/>
              <a:ea typeface="Ubuntu"/>
              <a:cs typeface="Ubuntu"/>
              <a:sym typeface="Ubuntu"/>
            </a:endParaRPr>
          </a:p>
          <a:p>
            <a:pPr indent="0" lvl="0" marL="0" rtl="0" algn="l">
              <a:lnSpc>
                <a:spcPct val="115000"/>
              </a:lnSpc>
              <a:spcBef>
                <a:spcPts val="0"/>
              </a:spcBef>
              <a:spcAft>
                <a:spcPts val="0"/>
              </a:spcAft>
              <a:buNone/>
            </a:pPr>
            <a:r>
              <a:t/>
            </a:r>
            <a:endParaRPr sz="1200">
              <a:solidFill>
                <a:srgbClr val="0D0D0D"/>
              </a:solidFill>
              <a:highlight>
                <a:srgbClr val="FFFFFF"/>
              </a:highlight>
              <a:latin typeface="Ubuntu"/>
              <a:ea typeface="Ubuntu"/>
              <a:cs typeface="Ubuntu"/>
              <a:sym typeface="Ubuntu"/>
            </a:endParaRPr>
          </a:p>
          <a:p>
            <a:pPr indent="0" lvl="0" marL="0" rtl="0" algn="l">
              <a:lnSpc>
                <a:spcPct val="115000"/>
              </a:lnSpc>
              <a:spcBef>
                <a:spcPts val="0"/>
              </a:spcBef>
              <a:spcAft>
                <a:spcPts val="0"/>
              </a:spcAft>
              <a:buNone/>
            </a:pPr>
            <a:r>
              <a:rPr lang="zh-TW" sz="1200">
                <a:solidFill>
                  <a:srgbClr val="0D0D0D"/>
                </a:solidFill>
                <a:highlight>
                  <a:srgbClr val="FFFFFF"/>
                </a:highlight>
                <a:latin typeface="Ubuntu"/>
                <a:ea typeface="Ubuntu"/>
                <a:cs typeface="Ubuntu"/>
                <a:sym typeface="Ubuntu"/>
              </a:rPr>
              <a:t>在光學封裝中，使用微透鏡陣列來聚焦和導引光束至特定位置，這對於矽光子元件（如矽基光集成電路）的精確對接至關重要。這種對接技術支持高密度光路的配置，使得多通道光信號處理成為可能。</a:t>
            </a:r>
            <a:endParaRPr sz="1200">
              <a:solidFill>
                <a:srgbClr val="0D0D0D"/>
              </a:solidFill>
              <a:highlight>
                <a:srgbClr val="FFFFFF"/>
              </a:highlight>
              <a:latin typeface="Ubuntu"/>
              <a:ea typeface="Ubuntu"/>
              <a:cs typeface="Ubuntu"/>
              <a:sym typeface="Ubuntu"/>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3"/>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I/O couple</a:t>
            </a:r>
            <a:endParaRPr/>
          </a:p>
        </p:txBody>
      </p:sp>
      <p:sp>
        <p:nvSpPr>
          <p:cNvPr id="176" name="Google Shape;176;p23"/>
          <p:cNvSpPr txBox="1"/>
          <p:nvPr>
            <p:ph idx="4294967295" type="body"/>
          </p:nvPr>
        </p:nvSpPr>
        <p:spPr>
          <a:xfrm>
            <a:off x="292892" y="503556"/>
            <a:ext cx="8558400" cy="2601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0"/>
              </a:spcBef>
              <a:spcAft>
                <a:spcPts val="1200"/>
              </a:spcAft>
              <a:buClr>
                <a:schemeClr val="accent1"/>
              </a:buClr>
              <a:buSzPct val="83333"/>
              <a:buNone/>
            </a:pPr>
            <a:r>
              <a:rPr lang="zh-TW"/>
              <a:t>Grating couple</a:t>
            </a:r>
            <a:endParaRPr/>
          </a:p>
        </p:txBody>
      </p:sp>
      <p:pic>
        <p:nvPicPr>
          <p:cNvPr id="177" name="Google Shape;177;p23"/>
          <p:cNvPicPr preferRelativeResize="0"/>
          <p:nvPr/>
        </p:nvPicPr>
        <p:blipFill rotWithShape="1">
          <a:blip r:embed="rId3">
            <a:alphaModFix/>
          </a:blip>
          <a:srcRect b="0" l="0" r="-120" t="0"/>
          <a:stretch/>
        </p:blipFill>
        <p:spPr>
          <a:xfrm>
            <a:off x="190258" y="1255390"/>
            <a:ext cx="5741640" cy="2773612"/>
          </a:xfrm>
          <a:prstGeom prst="rect">
            <a:avLst/>
          </a:prstGeom>
          <a:noFill/>
          <a:ln>
            <a:noFill/>
          </a:ln>
        </p:spPr>
      </p:pic>
      <p:pic>
        <p:nvPicPr>
          <p:cNvPr descr="Figure 1 from CMOS-compatible silicon double-etched apodized waveguide grating couplers for high ..." id="178" name="Google Shape;178;p23"/>
          <p:cNvPicPr preferRelativeResize="0"/>
          <p:nvPr/>
        </p:nvPicPr>
        <p:blipFill rotWithShape="1">
          <a:blip r:embed="rId4">
            <a:alphaModFix/>
          </a:blip>
          <a:srcRect b="0" l="0" r="0" t="0"/>
          <a:stretch/>
        </p:blipFill>
        <p:spPr>
          <a:xfrm>
            <a:off x="5931899" y="2835330"/>
            <a:ext cx="3085355" cy="1632343"/>
          </a:xfrm>
          <a:prstGeom prst="rect">
            <a:avLst/>
          </a:prstGeom>
          <a:noFill/>
          <a:ln>
            <a:noFill/>
          </a:ln>
        </p:spPr>
      </p:pic>
      <p:pic>
        <p:nvPicPr>
          <p:cNvPr id="179" name="Google Shape;179;p23"/>
          <p:cNvPicPr preferRelativeResize="0"/>
          <p:nvPr/>
        </p:nvPicPr>
        <p:blipFill rotWithShape="1">
          <a:blip r:embed="rId5">
            <a:alphaModFix/>
          </a:blip>
          <a:srcRect b="0" l="0" r="0" t="0"/>
          <a:stretch/>
        </p:blipFill>
        <p:spPr>
          <a:xfrm>
            <a:off x="5959078" y="1023781"/>
            <a:ext cx="3058175" cy="172022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4"/>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I/O couple</a:t>
            </a:r>
            <a:endParaRPr>
              <a:latin typeface="Arial"/>
              <a:ea typeface="Arial"/>
              <a:cs typeface="Arial"/>
              <a:sym typeface="Arial"/>
            </a:endParaRPr>
          </a:p>
        </p:txBody>
      </p:sp>
      <p:sp>
        <p:nvSpPr>
          <p:cNvPr id="185" name="Google Shape;185;p24"/>
          <p:cNvSpPr txBox="1"/>
          <p:nvPr>
            <p:ph idx="4294967295" type="body"/>
          </p:nvPr>
        </p:nvSpPr>
        <p:spPr>
          <a:xfrm>
            <a:off x="292892" y="497087"/>
            <a:ext cx="8558400" cy="2601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0"/>
              </a:spcBef>
              <a:spcAft>
                <a:spcPts val="1200"/>
              </a:spcAft>
              <a:buClr>
                <a:schemeClr val="accent1"/>
              </a:buClr>
              <a:buSzPct val="83333"/>
              <a:buNone/>
            </a:pPr>
            <a:r>
              <a:rPr i="0" lang="zh-TW">
                <a:latin typeface="Arial"/>
                <a:ea typeface="Arial"/>
                <a:cs typeface="Arial"/>
                <a:sym typeface="Arial"/>
              </a:rPr>
              <a:t>Evanescent-wave coupling</a:t>
            </a:r>
            <a:endParaRPr/>
          </a:p>
        </p:txBody>
      </p:sp>
      <p:pic>
        <p:nvPicPr>
          <p:cNvPr descr="(a) FEM simulation of evanescent coupling of 633-nm light between two... | Download Scientific ..." id="186" name="Google Shape;186;p24"/>
          <p:cNvPicPr preferRelativeResize="0"/>
          <p:nvPr/>
        </p:nvPicPr>
        <p:blipFill rotWithShape="1">
          <a:blip r:embed="rId3">
            <a:alphaModFix/>
          </a:blip>
          <a:srcRect b="53872" l="0" r="0" t="0"/>
          <a:stretch/>
        </p:blipFill>
        <p:spPr>
          <a:xfrm>
            <a:off x="478706" y="3656014"/>
            <a:ext cx="5587464" cy="1076392"/>
          </a:xfrm>
          <a:prstGeom prst="rect">
            <a:avLst/>
          </a:prstGeom>
          <a:noFill/>
          <a:ln>
            <a:noFill/>
          </a:ln>
        </p:spPr>
      </p:pic>
      <p:pic>
        <p:nvPicPr>
          <p:cNvPr descr="Handbook of Silicon Photonics" id="187" name="Google Shape;187;p24"/>
          <p:cNvPicPr preferRelativeResize="0"/>
          <p:nvPr/>
        </p:nvPicPr>
        <p:blipFill rotWithShape="1">
          <a:blip r:embed="rId4">
            <a:alphaModFix/>
          </a:blip>
          <a:srcRect b="0" l="0" r="0" t="0"/>
          <a:stretch/>
        </p:blipFill>
        <p:spPr>
          <a:xfrm>
            <a:off x="529238" y="757238"/>
            <a:ext cx="5498584" cy="2898777"/>
          </a:xfrm>
          <a:prstGeom prst="rect">
            <a:avLst/>
          </a:prstGeom>
          <a:noFill/>
          <a:ln>
            <a:noFill/>
          </a:ln>
        </p:spPr>
      </p:pic>
      <p:sp>
        <p:nvSpPr>
          <p:cNvPr id="188" name="Google Shape;188;p24"/>
          <p:cNvSpPr/>
          <p:nvPr/>
        </p:nvSpPr>
        <p:spPr>
          <a:xfrm rot="-9921764">
            <a:off x="3273141" y="1876464"/>
            <a:ext cx="2823124" cy="220112"/>
          </a:xfrm>
          <a:prstGeom prst="leftArrow">
            <a:avLst>
              <a:gd fmla="val 50000" name="adj1"/>
              <a:gd fmla="val 50000" name="adj2"/>
            </a:avLst>
          </a:prstGeom>
          <a:solidFill>
            <a:schemeClr val="accent1"/>
          </a:solidFill>
          <a:ln cap="flat" cmpd="sng" w="12700">
            <a:solidFill>
              <a:srgbClr val="153E4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Dimpled tapered fiber fabrication and evanescent coupling method. (a) Dimpling process; (b) microphotograph of the polished wedge-shaped pencil lead pressing against the tapered fiber; (c) microphotograph of the dimple at the center of U-shape tapered fiber; (d) schematic diagram of near-field coupling position between fiber taper and PCN cavity." id="189" name="Google Shape;189;p24"/>
          <p:cNvPicPr preferRelativeResize="0"/>
          <p:nvPr/>
        </p:nvPicPr>
        <p:blipFill rotWithShape="1">
          <a:blip r:embed="rId5">
            <a:alphaModFix/>
          </a:blip>
          <a:srcRect b="2464" l="26663" r="2651" t="50064"/>
          <a:stretch/>
        </p:blipFill>
        <p:spPr>
          <a:xfrm>
            <a:off x="6078354" y="1886056"/>
            <a:ext cx="2738703" cy="141358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5"/>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I/O couple</a:t>
            </a:r>
            <a:endParaRPr/>
          </a:p>
        </p:txBody>
      </p:sp>
      <p:sp>
        <p:nvSpPr>
          <p:cNvPr id="195" name="Google Shape;195;p25"/>
          <p:cNvSpPr txBox="1"/>
          <p:nvPr>
            <p:ph idx="4294967295" type="body"/>
          </p:nvPr>
        </p:nvSpPr>
        <p:spPr>
          <a:xfrm>
            <a:off x="292892" y="503556"/>
            <a:ext cx="8558400" cy="2601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0"/>
              </a:spcBef>
              <a:spcAft>
                <a:spcPts val="1200"/>
              </a:spcAft>
              <a:buClr>
                <a:schemeClr val="accent1"/>
              </a:buClr>
              <a:buSzPct val="83333"/>
              <a:buNone/>
            </a:pPr>
            <a:r>
              <a:rPr lang="zh-TW"/>
              <a:t>Waveguide Array to Fiber Transposer </a:t>
            </a:r>
            <a:endParaRPr/>
          </a:p>
        </p:txBody>
      </p:sp>
      <p:pic>
        <p:nvPicPr>
          <p:cNvPr descr="WAFT &amp; SSC for PIC packaging for Silicon Photonics - Teem Photonics - Teem  Photonics - Composing with light" id="196" name="Google Shape;196;p25"/>
          <p:cNvPicPr preferRelativeResize="0"/>
          <p:nvPr/>
        </p:nvPicPr>
        <p:blipFill rotWithShape="1">
          <a:blip r:embed="rId3">
            <a:alphaModFix/>
          </a:blip>
          <a:srcRect b="0" l="0" r="0" t="0"/>
          <a:stretch/>
        </p:blipFill>
        <p:spPr>
          <a:xfrm>
            <a:off x="950422" y="840922"/>
            <a:ext cx="7243155" cy="3263192"/>
          </a:xfrm>
          <a:prstGeom prst="rect">
            <a:avLst/>
          </a:prstGeom>
          <a:noFill/>
          <a:ln>
            <a:noFill/>
          </a:ln>
        </p:spPr>
      </p:pic>
      <p:sp>
        <p:nvSpPr>
          <p:cNvPr id="197" name="Google Shape;197;p25"/>
          <p:cNvSpPr txBox="1"/>
          <p:nvPr/>
        </p:nvSpPr>
        <p:spPr>
          <a:xfrm>
            <a:off x="950422" y="4155196"/>
            <a:ext cx="5377200" cy="715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dk1"/>
                </a:solidFill>
                <a:latin typeface="Arial"/>
                <a:ea typeface="Arial"/>
                <a:cs typeface="Arial"/>
                <a:sym typeface="Arial"/>
              </a:rPr>
              <a:t>Chips will usually have packaged connectors.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dk1"/>
                </a:solidFill>
                <a:latin typeface="Arial"/>
                <a:ea typeface="Arial"/>
                <a:cs typeface="Arial"/>
                <a:sym typeface="Arial"/>
              </a:rPr>
              <a:t>One issue to consider here is whether it is WDM or single frequency.</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6"/>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Ring resonator</a:t>
            </a:r>
            <a:br>
              <a:rPr lang="zh-TW"/>
            </a:br>
            <a:endParaRPr/>
          </a:p>
        </p:txBody>
      </p:sp>
      <p:sp>
        <p:nvSpPr>
          <p:cNvPr id="203" name="Google Shape;203;p26"/>
          <p:cNvSpPr txBox="1"/>
          <p:nvPr>
            <p:ph idx="4294967295" type="body"/>
          </p:nvPr>
        </p:nvSpPr>
        <p:spPr>
          <a:xfrm>
            <a:off x="292892" y="503556"/>
            <a:ext cx="8558400" cy="2601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0"/>
              </a:spcBef>
              <a:spcAft>
                <a:spcPts val="1200"/>
              </a:spcAft>
              <a:buClr>
                <a:schemeClr val="accent1"/>
              </a:buClr>
              <a:buSzPct val="83333"/>
              <a:buNone/>
            </a:pPr>
            <a:r>
              <a:rPr lang="zh-TW"/>
              <a:t>Principle of ring resonator</a:t>
            </a:r>
            <a:endParaRPr/>
          </a:p>
        </p:txBody>
      </p:sp>
      <p:pic>
        <p:nvPicPr>
          <p:cNvPr id="204" name="Google Shape;204;p26"/>
          <p:cNvPicPr preferRelativeResize="0"/>
          <p:nvPr/>
        </p:nvPicPr>
        <p:blipFill rotWithShape="1">
          <a:blip r:embed="rId3">
            <a:alphaModFix/>
          </a:blip>
          <a:srcRect b="0" l="0" r="0" t="0"/>
          <a:stretch/>
        </p:blipFill>
        <p:spPr>
          <a:xfrm>
            <a:off x="780509" y="763707"/>
            <a:ext cx="7582977" cy="2833546"/>
          </a:xfrm>
          <a:prstGeom prst="rect">
            <a:avLst/>
          </a:prstGeom>
          <a:noFill/>
          <a:ln>
            <a:noFill/>
          </a:ln>
        </p:spPr>
      </p:pic>
      <p:sp>
        <p:nvSpPr>
          <p:cNvPr id="205" name="Google Shape;205;p26"/>
          <p:cNvSpPr txBox="1"/>
          <p:nvPr/>
        </p:nvSpPr>
        <p:spPr>
          <a:xfrm>
            <a:off x="314546" y="3691363"/>
            <a:ext cx="8829600" cy="1146600"/>
          </a:xfrm>
          <a:prstGeom prst="rect">
            <a:avLst/>
          </a:prstGeom>
          <a:noFill/>
          <a:ln>
            <a:noFill/>
          </a:ln>
        </p:spPr>
        <p:txBody>
          <a:bodyPr anchorCtr="0" anchor="t" bIns="34275" lIns="68575" spcFirstLastPara="1" rIns="68575" wrap="square" tIns="34275">
            <a:spAutoFit/>
          </a:bodyPr>
          <a:lstStyle/>
          <a:p>
            <a:pPr indent="-254000" lvl="0" marL="254000" marR="0" rtl="0" algn="l">
              <a:lnSpc>
                <a:spcPct val="100000"/>
              </a:lnSpc>
              <a:spcBef>
                <a:spcPts val="0"/>
              </a:spcBef>
              <a:spcAft>
                <a:spcPts val="0"/>
              </a:spcAft>
              <a:buClr>
                <a:schemeClr val="dk1"/>
              </a:buClr>
              <a:buSzPts val="1400"/>
              <a:buFont typeface="Arial"/>
              <a:buAutoNum type="arabicPeriod"/>
            </a:pPr>
            <a:r>
              <a:rPr b="0" i="0" lang="zh-TW" sz="1400" u="none" cap="none" strike="noStrike">
                <a:solidFill>
                  <a:schemeClr val="dk1"/>
                </a:solidFill>
                <a:latin typeface="Arial"/>
                <a:ea typeface="Arial"/>
                <a:cs typeface="Arial"/>
                <a:sym typeface="Arial"/>
              </a:rPr>
              <a:t>A portion of the light </a:t>
            </a:r>
            <a:r>
              <a:rPr b="1" i="0" lang="zh-TW" sz="1400" u="none" cap="none" strike="noStrike">
                <a:solidFill>
                  <a:schemeClr val="dk1"/>
                </a:solidFill>
                <a:latin typeface="Arial"/>
                <a:ea typeface="Arial"/>
                <a:cs typeface="Arial"/>
                <a:sym typeface="Arial"/>
              </a:rPr>
              <a:t>enters the ring </a:t>
            </a:r>
            <a:r>
              <a:rPr b="0" i="0" lang="zh-TW" sz="1400" u="none" cap="none" strike="noStrike">
                <a:solidFill>
                  <a:schemeClr val="dk1"/>
                </a:solidFill>
                <a:latin typeface="Arial"/>
                <a:ea typeface="Arial"/>
                <a:cs typeface="Arial"/>
                <a:sym typeface="Arial"/>
              </a:rPr>
              <a:t>structure, while the rest continues to propagate forward. </a:t>
            </a:r>
            <a:endParaRPr b="0" i="0" sz="1100" u="none" cap="none" strike="noStrike">
              <a:solidFill>
                <a:srgbClr val="000000"/>
              </a:solidFill>
              <a:latin typeface="Arial"/>
              <a:ea typeface="Arial"/>
              <a:cs typeface="Arial"/>
              <a:sym typeface="Arial"/>
            </a:endParaRPr>
          </a:p>
          <a:p>
            <a:pPr indent="-254000" lvl="0" marL="254000" marR="0" rtl="0" algn="l">
              <a:lnSpc>
                <a:spcPct val="100000"/>
              </a:lnSpc>
              <a:spcBef>
                <a:spcPts val="0"/>
              </a:spcBef>
              <a:spcAft>
                <a:spcPts val="0"/>
              </a:spcAft>
              <a:buClr>
                <a:schemeClr val="dk1"/>
              </a:buClr>
              <a:buSzPts val="1400"/>
              <a:buFont typeface="Arial"/>
              <a:buAutoNum type="arabicPeriod"/>
            </a:pPr>
            <a:r>
              <a:rPr b="0" i="0" lang="zh-TW" sz="1400" u="none" cap="none" strike="noStrike">
                <a:solidFill>
                  <a:schemeClr val="dk1"/>
                </a:solidFill>
                <a:latin typeface="Arial"/>
                <a:ea typeface="Arial"/>
                <a:cs typeface="Arial"/>
                <a:sym typeface="Arial"/>
              </a:rPr>
              <a:t>Subsequently, these light waves interfere again in the coupling region. </a:t>
            </a:r>
            <a:endParaRPr b="0" i="0" sz="1100" u="none" cap="none" strike="noStrike">
              <a:solidFill>
                <a:srgbClr val="000000"/>
              </a:solidFill>
              <a:latin typeface="Arial"/>
              <a:ea typeface="Arial"/>
              <a:cs typeface="Arial"/>
              <a:sym typeface="Arial"/>
            </a:endParaRPr>
          </a:p>
          <a:p>
            <a:pPr indent="-254000" lvl="0" marL="254000" marR="0" rtl="0" algn="l">
              <a:lnSpc>
                <a:spcPct val="100000"/>
              </a:lnSpc>
              <a:spcBef>
                <a:spcPts val="0"/>
              </a:spcBef>
              <a:spcAft>
                <a:spcPts val="0"/>
              </a:spcAft>
              <a:buClr>
                <a:schemeClr val="dk1"/>
              </a:buClr>
              <a:buSzPts val="1400"/>
              <a:buFont typeface="Arial"/>
              <a:buAutoNum type="arabicPeriod"/>
            </a:pPr>
            <a:r>
              <a:rPr b="0" i="0" lang="zh-TW" sz="1400" u="none" cap="none" strike="noStrike">
                <a:solidFill>
                  <a:schemeClr val="dk1"/>
                </a:solidFill>
                <a:latin typeface="Arial"/>
                <a:ea typeface="Arial"/>
                <a:cs typeface="Arial"/>
                <a:sym typeface="Arial"/>
              </a:rPr>
              <a:t>Destructive interference occurs when their phase difference reaches π/2.</a:t>
            </a:r>
            <a:endParaRPr b="0" i="0" sz="1400" u="none" cap="none" strike="noStrike">
              <a:solidFill>
                <a:schemeClr val="dk1"/>
              </a:solidFill>
              <a:latin typeface="Arial"/>
              <a:ea typeface="Arial"/>
              <a:cs typeface="Arial"/>
              <a:sym typeface="Arial"/>
            </a:endParaRPr>
          </a:p>
          <a:p>
            <a:pPr indent="-254000" lvl="0" marL="254000" marR="0" rtl="0" algn="l">
              <a:lnSpc>
                <a:spcPct val="100000"/>
              </a:lnSpc>
              <a:spcBef>
                <a:spcPts val="0"/>
              </a:spcBef>
              <a:spcAft>
                <a:spcPts val="0"/>
              </a:spcAft>
              <a:buClr>
                <a:schemeClr val="dk1"/>
              </a:buClr>
              <a:buSzPts val="1400"/>
              <a:buFont typeface="Arial"/>
              <a:buAutoNum type="arabicPeriod"/>
            </a:pPr>
            <a:r>
              <a:rPr b="0" i="0" lang="zh-TW" sz="1400" u="none" cap="none" strike="noStrike">
                <a:solidFill>
                  <a:schemeClr val="dk1"/>
                </a:solidFill>
                <a:latin typeface="Arial"/>
                <a:ea typeface="Arial"/>
                <a:cs typeface="Arial"/>
                <a:sym typeface="Arial"/>
              </a:rPr>
              <a:t>This type of resonator has </a:t>
            </a:r>
            <a:r>
              <a:rPr b="1" i="0" lang="zh-TW" sz="1400" u="none" cap="none" strike="noStrike">
                <a:solidFill>
                  <a:schemeClr val="dk1"/>
                </a:solidFill>
                <a:latin typeface="Arial"/>
                <a:ea typeface="Arial"/>
                <a:cs typeface="Arial"/>
                <a:sym typeface="Arial"/>
              </a:rPr>
              <a:t>a simple structure</a:t>
            </a:r>
            <a:r>
              <a:rPr b="0" i="0" lang="zh-TW" sz="1400" u="none" cap="none" strike="noStrike">
                <a:solidFill>
                  <a:schemeClr val="dk1"/>
                </a:solidFill>
                <a:latin typeface="Arial"/>
                <a:ea typeface="Arial"/>
                <a:cs typeface="Arial"/>
                <a:sym typeface="Arial"/>
              </a:rPr>
              <a:t>, compact size. Its high Q factor indicates low energy loss, but conversely, it has a very </a:t>
            </a:r>
            <a:r>
              <a:rPr b="1" i="0" lang="zh-TW" sz="1400" u="none" cap="none" strike="noStrike">
                <a:solidFill>
                  <a:schemeClr val="dk1"/>
                </a:solidFill>
                <a:latin typeface="Arial"/>
                <a:ea typeface="Arial"/>
                <a:cs typeface="Arial"/>
                <a:sym typeface="Arial"/>
              </a:rPr>
              <a:t>narrow bandwidth</a:t>
            </a:r>
            <a:r>
              <a:rPr b="0" i="0" lang="zh-TW" sz="1400" u="none" cap="none" strike="noStrike">
                <a:solidFill>
                  <a:schemeClr val="dk1"/>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7"/>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latin typeface="Arial"/>
                <a:ea typeface="Arial"/>
                <a:cs typeface="Arial"/>
                <a:sym typeface="Arial"/>
              </a:rPr>
              <a:t>Micro-Ring Modulator</a:t>
            </a:r>
            <a:endParaRPr/>
          </a:p>
        </p:txBody>
      </p:sp>
      <p:sp>
        <p:nvSpPr>
          <p:cNvPr id="211" name="Google Shape;211;p27"/>
          <p:cNvSpPr txBox="1"/>
          <p:nvPr>
            <p:ph idx="4294967295" type="body"/>
          </p:nvPr>
        </p:nvSpPr>
        <p:spPr>
          <a:xfrm>
            <a:off x="292892" y="503556"/>
            <a:ext cx="8558400" cy="260100"/>
          </a:xfrm>
          <a:prstGeom prst="rect">
            <a:avLst/>
          </a:prstGeom>
          <a:noFill/>
          <a:ln>
            <a:noFill/>
          </a:ln>
        </p:spPr>
        <p:txBody>
          <a:bodyPr anchorCtr="0" anchor="t" bIns="34275" lIns="68575" spcFirstLastPara="1" rIns="68575" wrap="square" tIns="34275">
            <a:normAutofit lnSpcReduction="20000"/>
          </a:bodyPr>
          <a:lstStyle/>
          <a:p>
            <a:pPr indent="0" lvl="0" marL="0" rtl="0" algn="l">
              <a:lnSpc>
                <a:spcPct val="90000"/>
              </a:lnSpc>
              <a:spcBef>
                <a:spcPts val="0"/>
              </a:spcBef>
              <a:spcAft>
                <a:spcPts val="1200"/>
              </a:spcAft>
              <a:buClr>
                <a:schemeClr val="accent1"/>
              </a:buClr>
              <a:buSzPts val="1400"/>
              <a:buNone/>
            </a:pPr>
            <a:r>
              <a:rPr lang="zh-TW" sz="1400"/>
              <a:t>Use the ring resonator and EO(Plasma Dispersion effect) effect or TO(Thermal) to make modulator</a:t>
            </a:r>
            <a:endParaRPr/>
          </a:p>
        </p:txBody>
      </p:sp>
      <p:pic>
        <p:nvPicPr>
          <p:cNvPr id="212" name="Google Shape;212;p27"/>
          <p:cNvPicPr preferRelativeResize="0"/>
          <p:nvPr/>
        </p:nvPicPr>
        <p:blipFill rotWithShape="1">
          <a:blip r:embed="rId3">
            <a:alphaModFix/>
          </a:blip>
          <a:srcRect b="0" l="0" r="0" t="0"/>
          <a:stretch/>
        </p:blipFill>
        <p:spPr>
          <a:xfrm>
            <a:off x="3777769" y="1024044"/>
            <a:ext cx="5263971" cy="3326418"/>
          </a:xfrm>
          <a:prstGeom prst="rect">
            <a:avLst/>
          </a:prstGeom>
          <a:noFill/>
          <a:ln>
            <a:noFill/>
          </a:ln>
        </p:spPr>
      </p:pic>
      <p:pic>
        <p:nvPicPr>
          <p:cNvPr id="213" name="Google Shape;213;p27"/>
          <p:cNvPicPr preferRelativeResize="0"/>
          <p:nvPr/>
        </p:nvPicPr>
        <p:blipFill rotWithShape="1">
          <a:blip r:embed="rId4">
            <a:alphaModFix/>
          </a:blip>
          <a:srcRect b="0" l="0" r="0" t="0"/>
          <a:stretch/>
        </p:blipFill>
        <p:spPr>
          <a:xfrm>
            <a:off x="135169" y="1176075"/>
            <a:ext cx="3536438" cy="302236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idx="4294967295" type="body"/>
          </p:nvPr>
        </p:nvSpPr>
        <p:spPr>
          <a:xfrm>
            <a:off x="1600200" y="4893469"/>
            <a:ext cx="6100800" cy="150000"/>
          </a:xfrm>
          <a:prstGeom prst="rect">
            <a:avLst/>
          </a:prstGeom>
          <a:noFill/>
          <a:ln>
            <a:noFill/>
          </a:ln>
        </p:spPr>
        <p:txBody>
          <a:bodyPr anchorCtr="0" anchor="t" bIns="34275" lIns="68575" spcFirstLastPara="1" rIns="68575" wrap="square" tIns="34275">
            <a:normAutofit fontScale="40000" lnSpcReduction="20000"/>
          </a:bodyPr>
          <a:lstStyle/>
          <a:p>
            <a:pPr indent="0" lvl="0" marL="0" rtl="0" algn="l">
              <a:lnSpc>
                <a:spcPct val="90000"/>
              </a:lnSpc>
              <a:spcBef>
                <a:spcPts val="0"/>
              </a:spcBef>
              <a:spcAft>
                <a:spcPts val="1200"/>
              </a:spcAft>
              <a:buClr>
                <a:schemeClr val="dk1"/>
              </a:buClr>
              <a:buSzPct val="38889"/>
              <a:buNone/>
            </a:pPr>
            <a:r>
              <a:rPr lang="zh-TW"/>
              <a:t>https://www.youtube.com/watch?v=GmDFK7eyjuQ</a:t>
            </a:r>
            <a:endParaRPr/>
          </a:p>
        </p:txBody>
      </p:sp>
      <p:sp>
        <p:nvSpPr>
          <p:cNvPr id="219" name="Google Shape;219;p28"/>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Ring cavity</a:t>
            </a:r>
            <a:br>
              <a:rPr lang="zh-TW"/>
            </a:br>
            <a:endParaRPr/>
          </a:p>
        </p:txBody>
      </p:sp>
      <p:sp>
        <p:nvSpPr>
          <p:cNvPr id="220" name="Google Shape;220;p28"/>
          <p:cNvSpPr txBox="1"/>
          <p:nvPr>
            <p:ph idx="4294967295" type="body"/>
          </p:nvPr>
        </p:nvSpPr>
        <p:spPr>
          <a:xfrm>
            <a:off x="292892" y="503556"/>
            <a:ext cx="8558400" cy="2601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0"/>
              </a:spcBef>
              <a:spcAft>
                <a:spcPts val="1200"/>
              </a:spcAft>
              <a:buClr>
                <a:schemeClr val="accent1"/>
              </a:buClr>
              <a:buSzPct val="83333"/>
              <a:buNone/>
            </a:pPr>
            <a:r>
              <a:rPr lang="zh-TW"/>
              <a:t>Using as DEMUX or MUX</a:t>
            </a:r>
            <a:endParaRPr/>
          </a:p>
        </p:txBody>
      </p:sp>
      <p:pic>
        <p:nvPicPr>
          <p:cNvPr id="221" name="Google Shape;221;p28"/>
          <p:cNvPicPr preferRelativeResize="0"/>
          <p:nvPr/>
        </p:nvPicPr>
        <p:blipFill rotWithShape="1">
          <a:blip r:embed="rId3">
            <a:alphaModFix/>
          </a:blip>
          <a:srcRect b="0" l="0" r="0" t="0"/>
          <a:stretch/>
        </p:blipFill>
        <p:spPr>
          <a:xfrm>
            <a:off x="357863" y="1028326"/>
            <a:ext cx="2254983" cy="3245665"/>
          </a:xfrm>
          <a:prstGeom prst="rect">
            <a:avLst/>
          </a:prstGeom>
          <a:noFill/>
          <a:ln>
            <a:noFill/>
          </a:ln>
        </p:spPr>
      </p:pic>
      <p:pic>
        <p:nvPicPr>
          <p:cNvPr id="222" name="Google Shape;222;p28"/>
          <p:cNvPicPr preferRelativeResize="0"/>
          <p:nvPr/>
        </p:nvPicPr>
        <p:blipFill rotWithShape="1">
          <a:blip r:embed="rId4">
            <a:alphaModFix/>
          </a:blip>
          <a:srcRect b="0" l="0" r="0" t="0"/>
          <a:stretch/>
        </p:blipFill>
        <p:spPr>
          <a:xfrm>
            <a:off x="2727146" y="878007"/>
            <a:ext cx="6179344" cy="3514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9"/>
          <p:cNvSpPr txBox="1"/>
          <p:nvPr>
            <p:ph idx="4294967295" type="body"/>
          </p:nvPr>
        </p:nvSpPr>
        <p:spPr>
          <a:xfrm>
            <a:off x="1589813" y="4856764"/>
            <a:ext cx="6100800" cy="161700"/>
          </a:xfrm>
          <a:prstGeom prst="rect">
            <a:avLst/>
          </a:prstGeom>
          <a:noFill/>
          <a:ln>
            <a:noFill/>
          </a:ln>
        </p:spPr>
        <p:txBody>
          <a:bodyPr anchorCtr="0" anchor="t" bIns="34275" lIns="68575" spcFirstLastPara="1" rIns="68575" wrap="square" tIns="34275">
            <a:normAutofit fontScale="25000" lnSpcReduction="20000"/>
          </a:bodyPr>
          <a:lstStyle/>
          <a:p>
            <a:pPr indent="0" lvl="0" marL="0" rtl="0" algn="l">
              <a:lnSpc>
                <a:spcPct val="100000"/>
              </a:lnSpc>
              <a:spcBef>
                <a:spcPts val="0"/>
              </a:spcBef>
              <a:spcAft>
                <a:spcPts val="0"/>
              </a:spcAft>
              <a:buClr>
                <a:schemeClr val="dk1"/>
              </a:buClr>
              <a:buSzPct val="38889"/>
              <a:buNone/>
            </a:pPr>
            <a:r>
              <a:rPr lang="zh-TW" u="sng">
                <a:solidFill>
                  <a:schemeClr val="hlink"/>
                </a:solidFill>
                <a:hlinkClick r:id="rId3"/>
              </a:rPr>
              <a:t>https://medium.com/lightmatter/optical-components-for-matrix-processing-73687cdd7aa6</a:t>
            </a:r>
            <a:endParaRPr/>
          </a:p>
          <a:p>
            <a:pPr indent="0" lvl="0" marL="0" rtl="0" algn="l">
              <a:lnSpc>
                <a:spcPct val="100000"/>
              </a:lnSpc>
              <a:spcBef>
                <a:spcPts val="800"/>
              </a:spcBef>
              <a:spcAft>
                <a:spcPts val="1200"/>
              </a:spcAft>
              <a:buClr>
                <a:schemeClr val="dk1"/>
              </a:buClr>
              <a:buSzPct val="38889"/>
              <a:buNone/>
            </a:pPr>
            <a:br>
              <a:rPr lang="zh-TW"/>
            </a:br>
            <a:endParaRPr/>
          </a:p>
        </p:txBody>
      </p:sp>
      <p:sp>
        <p:nvSpPr>
          <p:cNvPr id="228" name="Google Shape;228;p29"/>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Mach-Zehnder modulator</a:t>
            </a:r>
            <a:endParaRPr/>
          </a:p>
        </p:txBody>
      </p:sp>
      <p:sp>
        <p:nvSpPr>
          <p:cNvPr id="229" name="Google Shape;229;p29"/>
          <p:cNvSpPr txBox="1"/>
          <p:nvPr>
            <p:ph idx="4294967295" type="body"/>
          </p:nvPr>
        </p:nvSpPr>
        <p:spPr>
          <a:xfrm>
            <a:off x="292892" y="503556"/>
            <a:ext cx="8558400" cy="2601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0"/>
              </a:spcBef>
              <a:spcAft>
                <a:spcPts val="1200"/>
              </a:spcAft>
              <a:buClr>
                <a:schemeClr val="accent1"/>
              </a:buClr>
              <a:buSzPct val="83333"/>
              <a:buNone/>
            </a:pPr>
            <a:r>
              <a:rPr lang="zh-TW"/>
              <a:t>Principle of MZM</a:t>
            </a:r>
            <a:endParaRPr/>
          </a:p>
        </p:txBody>
      </p:sp>
      <p:pic>
        <p:nvPicPr>
          <p:cNvPr id="230" name="Google Shape;230;p29"/>
          <p:cNvPicPr preferRelativeResize="0"/>
          <p:nvPr/>
        </p:nvPicPr>
        <p:blipFill rotWithShape="1">
          <a:blip r:embed="rId4">
            <a:alphaModFix/>
          </a:blip>
          <a:srcRect b="0" l="0" r="0" t="0"/>
          <a:stretch/>
        </p:blipFill>
        <p:spPr>
          <a:xfrm>
            <a:off x="1470060" y="1096029"/>
            <a:ext cx="5741230" cy="1283489"/>
          </a:xfrm>
          <a:prstGeom prst="rect">
            <a:avLst/>
          </a:prstGeom>
          <a:noFill/>
          <a:ln>
            <a:noFill/>
          </a:ln>
        </p:spPr>
      </p:pic>
      <p:sp>
        <p:nvSpPr>
          <p:cNvPr id="231" name="Google Shape;231;p29"/>
          <p:cNvSpPr txBox="1"/>
          <p:nvPr/>
        </p:nvSpPr>
        <p:spPr>
          <a:xfrm>
            <a:off x="385807" y="791369"/>
            <a:ext cx="87924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dk1"/>
                </a:solidFill>
                <a:latin typeface="Arial"/>
                <a:ea typeface="Arial"/>
                <a:cs typeface="Arial"/>
                <a:sym typeface="Arial"/>
              </a:rPr>
              <a:t>Following is a demonstration of a simple Mach-Zehnder Interferometer (MZI) with phase shifts of 0, π/4, and π/2</a:t>
            </a:r>
            <a:endParaRPr b="0" i="0" sz="1100" u="none" cap="none" strike="noStrike">
              <a:solidFill>
                <a:srgbClr val="000000"/>
              </a:solidFill>
              <a:latin typeface="Arial"/>
              <a:ea typeface="Arial"/>
              <a:cs typeface="Arial"/>
              <a:sym typeface="Arial"/>
            </a:endParaRPr>
          </a:p>
        </p:txBody>
      </p:sp>
      <p:sp>
        <p:nvSpPr>
          <p:cNvPr id="232" name="Google Shape;232;p29"/>
          <p:cNvSpPr/>
          <p:nvPr/>
        </p:nvSpPr>
        <p:spPr>
          <a:xfrm>
            <a:off x="3708399" y="3345675"/>
            <a:ext cx="446100" cy="368700"/>
          </a:xfrm>
          <a:prstGeom prst="leftArrow">
            <a:avLst>
              <a:gd fmla="val 50000" name="adj1"/>
              <a:gd fmla="val 50000" name="adj2"/>
            </a:avLst>
          </a:prstGeom>
          <a:solidFill>
            <a:schemeClr val="accent1"/>
          </a:solidFill>
          <a:ln cap="flat" cmpd="sng" w="12700">
            <a:solidFill>
              <a:srgbClr val="153E4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3" name="Google Shape;233;p29"/>
          <p:cNvSpPr txBox="1"/>
          <p:nvPr/>
        </p:nvSpPr>
        <p:spPr>
          <a:xfrm>
            <a:off x="4154354" y="2627057"/>
            <a:ext cx="4989600" cy="2224200"/>
          </a:xfrm>
          <a:prstGeom prst="rect">
            <a:avLst/>
          </a:prstGeom>
          <a:noFill/>
          <a:ln>
            <a:noFill/>
          </a:ln>
        </p:spPr>
        <p:txBody>
          <a:bodyPr anchorCtr="0" anchor="t" bIns="34275" lIns="68575" spcFirstLastPara="1" rIns="68575" wrap="square" tIns="34275">
            <a:spAutoFit/>
          </a:bodyPr>
          <a:lstStyle/>
          <a:p>
            <a:pPr indent="-215900" lvl="0" marL="215900" marR="0" rtl="0" algn="l">
              <a:lnSpc>
                <a:spcPct val="100000"/>
              </a:lnSpc>
              <a:spcBef>
                <a:spcPts val="0"/>
              </a:spcBef>
              <a:spcAft>
                <a:spcPts val="0"/>
              </a:spcAft>
              <a:buClr>
                <a:schemeClr val="dk1"/>
              </a:buClr>
              <a:buSzPts val="1400"/>
              <a:buFont typeface="Arial"/>
              <a:buChar char="•"/>
            </a:pPr>
            <a:r>
              <a:rPr b="0" i="0" lang="zh-TW" sz="1400" u="none" cap="none" strike="noStrike">
                <a:solidFill>
                  <a:schemeClr val="dk1"/>
                </a:solidFill>
                <a:latin typeface="Arial"/>
                <a:ea typeface="Arial"/>
                <a:cs typeface="Arial"/>
                <a:sym typeface="Arial"/>
              </a:rPr>
              <a:t>Left is a standard Mach-Zehnder modulator that incorporates both a basic MZI and a phase modulator.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215900" lvl="0" marL="215900" marR="0" rtl="0" algn="l">
              <a:lnSpc>
                <a:spcPct val="100000"/>
              </a:lnSpc>
              <a:spcBef>
                <a:spcPts val="0"/>
              </a:spcBef>
              <a:spcAft>
                <a:spcPts val="0"/>
              </a:spcAft>
              <a:buClr>
                <a:schemeClr val="dk1"/>
              </a:buClr>
              <a:buSzPts val="1400"/>
              <a:buFont typeface="Arial"/>
              <a:buChar char="•"/>
            </a:pPr>
            <a:r>
              <a:rPr b="0" i="0" lang="zh-TW" sz="1400" u="none" cap="none" strike="noStrike">
                <a:solidFill>
                  <a:schemeClr val="dk1"/>
                </a:solidFill>
                <a:latin typeface="Arial"/>
                <a:ea typeface="Arial"/>
                <a:cs typeface="Arial"/>
                <a:sym typeface="Arial"/>
              </a:rPr>
              <a:t>PN semiconductors are used as the modulating elements. </a:t>
            </a:r>
            <a:endParaRPr b="0" i="0" sz="1100" u="none" cap="none" strike="noStrike">
              <a:solidFill>
                <a:srgbClr val="000000"/>
              </a:solidFill>
              <a:latin typeface="Arial"/>
              <a:ea typeface="Arial"/>
              <a:cs typeface="Arial"/>
              <a:sym typeface="Arial"/>
            </a:endParaRPr>
          </a:p>
          <a:p>
            <a:pPr indent="-127000" lvl="0" marL="21590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215900" lvl="0" marL="215900" marR="0" rtl="0" algn="l">
              <a:lnSpc>
                <a:spcPct val="100000"/>
              </a:lnSpc>
              <a:spcBef>
                <a:spcPts val="0"/>
              </a:spcBef>
              <a:spcAft>
                <a:spcPts val="0"/>
              </a:spcAft>
              <a:buClr>
                <a:schemeClr val="dk1"/>
              </a:buClr>
              <a:buSzPts val="1400"/>
              <a:buFont typeface="Arial"/>
              <a:buChar char="•"/>
            </a:pPr>
            <a:r>
              <a:rPr b="0" i="0" lang="zh-TW" sz="1400" u="none" cap="none" strike="noStrike">
                <a:solidFill>
                  <a:schemeClr val="dk1"/>
                </a:solidFill>
                <a:latin typeface="Arial"/>
                <a:ea typeface="Arial"/>
                <a:cs typeface="Arial"/>
                <a:sym typeface="Arial"/>
              </a:rPr>
              <a:t>By adjusting the carrier concentration through voltage, the refractive index is changed.(</a:t>
            </a:r>
            <a:r>
              <a:rPr b="0" i="0" lang="zh-TW" sz="1400" u="none" cap="none" strike="noStrike">
                <a:solidFill>
                  <a:srgbClr val="202122"/>
                </a:solidFill>
                <a:latin typeface="Arial"/>
                <a:ea typeface="Arial"/>
                <a:cs typeface="Arial"/>
                <a:sym typeface="Arial"/>
              </a:rPr>
              <a:t>plasma dispersion effect</a:t>
            </a:r>
            <a:r>
              <a:rPr b="0" i="0" lang="zh-TW" sz="1400" u="none" cap="none" strike="noStrike">
                <a:solidFill>
                  <a:schemeClr val="dk1"/>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a:p>
            <a:pPr indent="-127000" lvl="0" marL="21590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215900" lvl="0" marL="215900" marR="0" rtl="0" algn="l">
              <a:lnSpc>
                <a:spcPct val="100000"/>
              </a:lnSpc>
              <a:spcBef>
                <a:spcPts val="0"/>
              </a:spcBef>
              <a:spcAft>
                <a:spcPts val="0"/>
              </a:spcAft>
              <a:buClr>
                <a:schemeClr val="dk1"/>
              </a:buClr>
              <a:buSzPts val="1400"/>
              <a:buFont typeface="Arial"/>
              <a:buChar char="•"/>
            </a:pPr>
            <a:r>
              <a:rPr b="0" i="0" lang="zh-TW" sz="1400" u="none" cap="none" strike="noStrike">
                <a:solidFill>
                  <a:schemeClr val="dk1"/>
                </a:solidFill>
                <a:latin typeface="Arial"/>
                <a:ea typeface="Arial"/>
                <a:cs typeface="Arial"/>
                <a:sym typeface="Arial"/>
              </a:rPr>
              <a:t>Also, can control the phase difference between two separate optical paths.</a:t>
            </a:r>
            <a:endParaRPr b="0" i="0" sz="1400" u="none" cap="none" strike="noStrike">
              <a:solidFill>
                <a:schemeClr val="dk1"/>
              </a:solidFill>
              <a:latin typeface="Arial"/>
              <a:ea typeface="Arial"/>
              <a:cs typeface="Arial"/>
              <a:sym typeface="Arial"/>
            </a:endParaRPr>
          </a:p>
        </p:txBody>
      </p:sp>
      <p:sp>
        <p:nvSpPr>
          <p:cNvPr id="234" name="Google Shape;234;p29"/>
          <p:cNvSpPr/>
          <p:nvPr/>
        </p:nvSpPr>
        <p:spPr>
          <a:xfrm>
            <a:off x="2971800" y="1553441"/>
            <a:ext cx="410400" cy="337200"/>
          </a:xfrm>
          <a:prstGeom prst="roundRect">
            <a:avLst>
              <a:gd fmla="val 16667" name="adj"/>
            </a:avLst>
          </a:prstGeom>
          <a:noFill/>
          <a:ln cap="flat" cmpd="sng" w="38100">
            <a:solidFill>
              <a:srgbClr val="FFC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5" name="Google Shape;235;p29"/>
          <p:cNvSpPr/>
          <p:nvPr/>
        </p:nvSpPr>
        <p:spPr>
          <a:xfrm>
            <a:off x="4886324" y="1553441"/>
            <a:ext cx="410400" cy="337200"/>
          </a:xfrm>
          <a:prstGeom prst="roundRect">
            <a:avLst>
              <a:gd fmla="val 16667" name="adj"/>
            </a:avLst>
          </a:prstGeom>
          <a:noFill/>
          <a:ln cap="flat" cmpd="sng" w="38100">
            <a:solidFill>
              <a:srgbClr val="FFC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6" name="Google Shape;236;p29"/>
          <p:cNvSpPr/>
          <p:nvPr/>
        </p:nvSpPr>
        <p:spPr>
          <a:xfrm>
            <a:off x="6811240" y="1569284"/>
            <a:ext cx="410400" cy="337200"/>
          </a:xfrm>
          <a:prstGeom prst="roundRect">
            <a:avLst>
              <a:gd fmla="val 16667" name="adj"/>
            </a:avLst>
          </a:prstGeom>
          <a:noFill/>
          <a:ln cap="flat" cmpd="sng" w="38100">
            <a:solidFill>
              <a:srgbClr val="FFC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7" name="Google Shape;237;p29"/>
          <p:cNvSpPr txBox="1"/>
          <p:nvPr/>
        </p:nvSpPr>
        <p:spPr>
          <a:xfrm>
            <a:off x="1317470" y="2358610"/>
            <a:ext cx="6210600" cy="469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300"/>
              <a:buFont typeface="Arial"/>
              <a:buNone/>
            </a:pPr>
            <a:r>
              <a:rPr b="0" i="0" lang="zh-TW" sz="1300" u="none" cap="none" strike="noStrike">
                <a:solidFill>
                  <a:schemeClr val="dk1"/>
                </a:solidFill>
                <a:latin typeface="Arial"/>
                <a:ea typeface="Arial"/>
                <a:cs typeface="Arial"/>
                <a:sym typeface="Arial"/>
              </a:rPr>
              <a:t>0 : constructive interference,  π/4 :linear control range,  π/2 : destructive interference</a:t>
            </a:r>
            <a:endParaRPr b="0" i="0" sz="1100" u="none" cap="none" strike="noStrike">
              <a:solidFill>
                <a:srgbClr val="000000"/>
              </a:solidFill>
              <a:latin typeface="Arial"/>
              <a:ea typeface="Arial"/>
              <a:cs typeface="Arial"/>
              <a:sym typeface="Arial"/>
            </a:endParaRPr>
          </a:p>
        </p:txBody>
      </p:sp>
      <p:pic>
        <p:nvPicPr>
          <p:cNvPr id="238" name="Google Shape;238;p29"/>
          <p:cNvPicPr preferRelativeResize="0"/>
          <p:nvPr/>
        </p:nvPicPr>
        <p:blipFill rotWithShape="1">
          <a:blip r:embed="rId5">
            <a:alphaModFix/>
          </a:blip>
          <a:srcRect b="0" l="0" r="0" t="0"/>
          <a:stretch/>
        </p:blipFill>
        <p:spPr>
          <a:xfrm>
            <a:off x="385807" y="2598689"/>
            <a:ext cx="3225857" cy="2200486"/>
          </a:xfrm>
          <a:prstGeom prst="rect">
            <a:avLst/>
          </a:prstGeom>
          <a:noFill/>
          <a:ln>
            <a:noFill/>
          </a:ln>
        </p:spPr>
      </p:pic>
      <p:sp>
        <p:nvSpPr>
          <p:cNvPr id="239" name="Google Shape;239;p29"/>
          <p:cNvSpPr txBox="1"/>
          <p:nvPr/>
        </p:nvSpPr>
        <p:spPr>
          <a:xfrm>
            <a:off x="1589813" y="5012315"/>
            <a:ext cx="4683000" cy="161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600"/>
              <a:buFont typeface="Arial"/>
              <a:buNone/>
            </a:pPr>
            <a:r>
              <a:rPr b="0" i="0" lang="zh-TW" sz="600" u="none" cap="none" strike="noStrike">
                <a:solidFill>
                  <a:schemeClr val="dk1"/>
                </a:solidFill>
                <a:latin typeface="Arial"/>
                <a:ea typeface="Arial"/>
                <a:cs typeface="Arial"/>
                <a:sym typeface="Arial"/>
              </a:rPr>
              <a:t>High‑performance Mach–Zehnder modulator using tailored plasma dispersion effects in an ITO/ graphene‑based waveguide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descr="3D refractive index contour of the Mach-Zehnder modulator" id="244" name="Google Shape;244;p30"/>
          <p:cNvPicPr preferRelativeResize="0"/>
          <p:nvPr/>
        </p:nvPicPr>
        <p:blipFill rotWithShape="1">
          <a:blip r:embed="rId3">
            <a:alphaModFix/>
          </a:blip>
          <a:srcRect b="0" l="0" r="0" t="0"/>
          <a:stretch/>
        </p:blipFill>
        <p:spPr>
          <a:xfrm>
            <a:off x="4682331" y="364795"/>
            <a:ext cx="3067851" cy="2192198"/>
          </a:xfrm>
          <a:prstGeom prst="rect">
            <a:avLst/>
          </a:prstGeom>
          <a:noFill/>
          <a:ln>
            <a:noFill/>
          </a:ln>
        </p:spPr>
      </p:pic>
      <p:sp>
        <p:nvSpPr>
          <p:cNvPr id="245" name="Google Shape;245;p30"/>
          <p:cNvSpPr txBox="1"/>
          <p:nvPr>
            <p:ph idx="4294967295" type="body"/>
          </p:nvPr>
        </p:nvSpPr>
        <p:spPr>
          <a:xfrm>
            <a:off x="1600200" y="4893469"/>
            <a:ext cx="6100800" cy="150000"/>
          </a:xfrm>
          <a:prstGeom prst="rect">
            <a:avLst/>
          </a:prstGeom>
          <a:noFill/>
          <a:ln>
            <a:noFill/>
          </a:ln>
        </p:spPr>
        <p:txBody>
          <a:bodyPr anchorCtr="0" anchor="t" bIns="34275" lIns="68575" spcFirstLastPara="1" rIns="68575" wrap="square" tIns="34275">
            <a:normAutofit fontScale="25000" lnSpcReduction="20000"/>
          </a:bodyPr>
          <a:lstStyle/>
          <a:p>
            <a:pPr indent="0" lvl="0" marL="0" rtl="0" algn="l">
              <a:lnSpc>
                <a:spcPct val="90000"/>
              </a:lnSpc>
              <a:spcBef>
                <a:spcPts val="0"/>
              </a:spcBef>
              <a:spcAft>
                <a:spcPts val="0"/>
              </a:spcAft>
              <a:buClr>
                <a:schemeClr val="dk1"/>
              </a:buClr>
              <a:buSzPct val="38889"/>
              <a:buNone/>
            </a:pPr>
            <a:r>
              <a:rPr lang="zh-TW"/>
              <a:t>https://www.codeseeder.com/examples/mach-zehnder-modulator/</a:t>
            </a:r>
            <a:endParaRPr/>
          </a:p>
          <a:p>
            <a:pPr indent="0" lvl="0" marL="0" rtl="0" algn="l">
              <a:lnSpc>
                <a:spcPct val="90000"/>
              </a:lnSpc>
              <a:spcBef>
                <a:spcPts val="800"/>
              </a:spcBef>
              <a:spcAft>
                <a:spcPts val="1200"/>
              </a:spcAft>
              <a:buClr>
                <a:schemeClr val="dk1"/>
              </a:buClr>
              <a:buSzPct val="38889"/>
              <a:buNone/>
            </a:pPr>
            <a:r>
              <a:t/>
            </a:r>
            <a:endParaRPr/>
          </a:p>
        </p:txBody>
      </p:sp>
      <p:sp>
        <p:nvSpPr>
          <p:cNvPr id="246" name="Google Shape;246;p30"/>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Mach-Zehnder modulator</a:t>
            </a:r>
            <a:endParaRPr/>
          </a:p>
        </p:txBody>
      </p:sp>
      <p:sp>
        <p:nvSpPr>
          <p:cNvPr id="247" name="Google Shape;247;p30"/>
          <p:cNvSpPr txBox="1"/>
          <p:nvPr>
            <p:ph idx="4294967295" type="body"/>
          </p:nvPr>
        </p:nvSpPr>
        <p:spPr>
          <a:xfrm>
            <a:off x="292892" y="503556"/>
            <a:ext cx="8558400" cy="260100"/>
          </a:xfrm>
          <a:prstGeom prst="rect">
            <a:avLst/>
          </a:prstGeom>
          <a:noFill/>
          <a:ln>
            <a:noFill/>
          </a:ln>
        </p:spPr>
        <p:txBody>
          <a:bodyPr anchorCtr="0" anchor="t" bIns="34275" lIns="68575" spcFirstLastPara="1" rIns="68575" wrap="square" tIns="34275">
            <a:normAutofit fontScale="25000" lnSpcReduction="20000"/>
          </a:bodyPr>
          <a:lstStyle/>
          <a:p>
            <a:pPr indent="0" lvl="0" marL="0" rtl="0" algn="l">
              <a:lnSpc>
                <a:spcPct val="90000"/>
              </a:lnSpc>
              <a:spcBef>
                <a:spcPts val="0"/>
              </a:spcBef>
              <a:spcAft>
                <a:spcPts val="0"/>
              </a:spcAft>
              <a:buClr>
                <a:schemeClr val="accent1"/>
              </a:buClr>
              <a:buSzPct val="83333"/>
              <a:buNone/>
            </a:pPr>
            <a:r>
              <a:rPr lang="zh-TW"/>
              <a:t>Principle of MZM for x,y plane</a:t>
            </a:r>
            <a:endParaRPr/>
          </a:p>
          <a:p>
            <a:pPr indent="0" lvl="0" marL="0" rtl="0" algn="l">
              <a:lnSpc>
                <a:spcPct val="90000"/>
              </a:lnSpc>
              <a:spcBef>
                <a:spcPts val="800"/>
              </a:spcBef>
              <a:spcAft>
                <a:spcPts val="1200"/>
              </a:spcAft>
              <a:buClr>
                <a:schemeClr val="accent1"/>
              </a:buClr>
              <a:buSzPct val="83333"/>
              <a:buNone/>
            </a:pPr>
            <a:r>
              <a:t/>
            </a:r>
            <a:endParaRPr/>
          </a:p>
        </p:txBody>
      </p:sp>
      <p:grpSp>
        <p:nvGrpSpPr>
          <p:cNvPr id="248" name="Google Shape;248;p30"/>
          <p:cNvGrpSpPr/>
          <p:nvPr/>
        </p:nvGrpSpPr>
        <p:grpSpPr>
          <a:xfrm>
            <a:off x="402646" y="784754"/>
            <a:ext cx="3483535" cy="3917580"/>
            <a:chOff x="682336" y="844842"/>
            <a:chExt cx="4846320" cy="5478367"/>
          </a:xfrm>
        </p:grpSpPr>
        <p:pic>
          <p:nvPicPr>
            <p:cNvPr descr="A screenshot of a graph&#10;&#10;Description automatically generated" id="249" name="Google Shape;249;p30"/>
            <p:cNvPicPr preferRelativeResize="0"/>
            <p:nvPr/>
          </p:nvPicPr>
          <p:blipFill rotWithShape="1">
            <a:blip r:embed="rId4">
              <a:alphaModFix/>
            </a:blip>
            <a:srcRect b="4343" l="891" r="3305" t="0"/>
            <a:stretch/>
          </p:blipFill>
          <p:spPr>
            <a:xfrm>
              <a:off x="682336" y="3599365"/>
              <a:ext cx="4846320" cy="2723844"/>
            </a:xfrm>
            <a:prstGeom prst="rect">
              <a:avLst/>
            </a:prstGeom>
            <a:noFill/>
            <a:ln>
              <a:noFill/>
            </a:ln>
          </p:spPr>
        </p:pic>
        <p:pic>
          <p:nvPicPr>
            <p:cNvPr descr="A graph of a graph of a graph of a graph of a graph of a graph of a graph of a graph of a graph of a graph of a graph of a graph of a graph of&#10;&#10;Description automatically generated" id="250" name="Google Shape;250;p30"/>
            <p:cNvPicPr preferRelativeResize="0"/>
            <p:nvPr/>
          </p:nvPicPr>
          <p:blipFill rotWithShape="1">
            <a:blip r:embed="rId5">
              <a:alphaModFix/>
            </a:blip>
            <a:srcRect b="3484" l="1427" r="2825" t="0"/>
            <a:stretch/>
          </p:blipFill>
          <p:spPr>
            <a:xfrm>
              <a:off x="682336" y="844842"/>
              <a:ext cx="4842125" cy="2743200"/>
            </a:xfrm>
            <a:prstGeom prst="rect">
              <a:avLst/>
            </a:prstGeom>
            <a:noFill/>
            <a:ln>
              <a:noFill/>
            </a:ln>
          </p:spPr>
        </p:pic>
      </p:grpSp>
      <p:sp>
        <p:nvSpPr>
          <p:cNvPr id="251" name="Google Shape;251;p30"/>
          <p:cNvSpPr txBox="1"/>
          <p:nvPr/>
        </p:nvSpPr>
        <p:spPr>
          <a:xfrm>
            <a:off x="3962222" y="2556992"/>
            <a:ext cx="5277000" cy="1916400"/>
          </a:xfrm>
          <a:prstGeom prst="rect">
            <a:avLst/>
          </a:prstGeom>
          <a:noFill/>
          <a:ln>
            <a:noFill/>
          </a:ln>
        </p:spPr>
        <p:txBody>
          <a:bodyPr anchorCtr="0" anchor="t" bIns="34275" lIns="68575" spcFirstLastPara="1" rIns="68575" wrap="square" tIns="34275">
            <a:spAutoFit/>
          </a:bodyPr>
          <a:lstStyle/>
          <a:p>
            <a:pPr indent="-254000" lvl="0" marL="254000" marR="0" rtl="0" algn="l">
              <a:lnSpc>
                <a:spcPct val="150000"/>
              </a:lnSpc>
              <a:spcBef>
                <a:spcPts val="0"/>
              </a:spcBef>
              <a:spcAft>
                <a:spcPts val="0"/>
              </a:spcAft>
              <a:buClr>
                <a:schemeClr val="dk1"/>
              </a:buClr>
              <a:buSzPts val="1200"/>
              <a:buFont typeface="Arial"/>
              <a:buAutoNum type="arabicPeriod"/>
            </a:pPr>
            <a:r>
              <a:rPr b="0" i="0" lang="zh-TW" sz="1200" u="none" cap="none" strike="noStrike">
                <a:solidFill>
                  <a:schemeClr val="dk1"/>
                </a:solidFill>
                <a:latin typeface="Arial"/>
                <a:ea typeface="Arial"/>
                <a:cs typeface="Arial"/>
                <a:sym typeface="Arial"/>
              </a:rPr>
              <a:t>Initially, light is split through a -3dB directional coupler.</a:t>
            </a:r>
            <a:endParaRPr b="0" i="0" sz="1100" u="none" cap="none" strike="noStrike">
              <a:solidFill>
                <a:srgbClr val="000000"/>
              </a:solidFill>
              <a:latin typeface="Arial"/>
              <a:ea typeface="Arial"/>
              <a:cs typeface="Arial"/>
              <a:sym typeface="Arial"/>
            </a:endParaRPr>
          </a:p>
          <a:p>
            <a:pPr indent="-254000" lvl="0" marL="254000" marR="0" rtl="0" algn="l">
              <a:lnSpc>
                <a:spcPct val="150000"/>
              </a:lnSpc>
              <a:spcBef>
                <a:spcPts val="0"/>
              </a:spcBef>
              <a:spcAft>
                <a:spcPts val="0"/>
              </a:spcAft>
              <a:buClr>
                <a:schemeClr val="dk1"/>
              </a:buClr>
              <a:buSzPts val="1200"/>
              <a:buFont typeface="Arial"/>
              <a:buAutoNum type="arabicPeriod"/>
            </a:pPr>
            <a:r>
              <a:rPr b="0" i="0" lang="zh-TW" sz="1200" u="none" cap="none" strike="noStrike">
                <a:solidFill>
                  <a:schemeClr val="dk1"/>
                </a:solidFill>
                <a:latin typeface="Arial"/>
                <a:ea typeface="Arial"/>
                <a:cs typeface="Arial"/>
                <a:sym typeface="Arial"/>
              </a:rPr>
              <a:t>Subsequently, the light travels through two distinct paths.</a:t>
            </a:r>
            <a:endParaRPr b="0" i="0" sz="1100" u="none" cap="none" strike="noStrike">
              <a:solidFill>
                <a:srgbClr val="000000"/>
              </a:solidFill>
              <a:latin typeface="Arial"/>
              <a:ea typeface="Arial"/>
              <a:cs typeface="Arial"/>
              <a:sym typeface="Arial"/>
            </a:endParaRPr>
          </a:p>
          <a:p>
            <a:pPr indent="-254000" lvl="0" marL="254000" marR="0" rtl="0" algn="l">
              <a:lnSpc>
                <a:spcPct val="150000"/>
              </a:lnSpc>
              <a:spcBef>
                <a:spcPts val="0"/>
              </a:spcBef>
              <a:spcAft>
                <a:spcPts val="0"/>
              </a:spcAft>
              <a:buClr>
                <a:schemeClr val="dk1"/>
              </a:buClr>
              <a:buSzPts val="1200"/>
              <a:buFont typeface="Arial"/>
              <a:buAutoNum type="arabicPeriod"/>
            </a:pPr>
            <a:r>
              <a:rPr b="0" i="0" lang="zh-TW" sz="1200" u="none" cap="none" strike="noStrike">
                <a:solidFill>
                  <a:schemeClr val="dk1"/>
                </a:solidFill>
                <a:latin typeface="Arial"/>
                <a:ea typeface="Arial"/>
                <a:cs typeface="Arial"/>
                <a:sym typeface="Arial"/>
              </a:rPr>
              <a:t>When we adjust the refractive index of one of the paths, a phase difference occurs.</a:t>
            </a:r>
            <a:endParaRPr b="0" i="0" sz="1100" u="none" cap="none" strike="noStrike">
              <a:solidFill>
                <a:srgbClr val="000000"/>
              </a:solidFill>
              <a:latin typeface="Arial"/>
              <a:ea typeface="Arial"/>
              <a:cs typeface="Arial"/>
              <a:sym typeface="Arial"/>
            </a:endParaRPr>
          </a:p>
          <a:p>
            <a:pPr indent="-254000" lvl="0" marL="254000" marR="0" rtl="0" algn="l">
              <a:lnSpc>
                <a:spcPct val="150000"/>
              </a:lnSpc>
              <a:spcBef>
                <a:spcPts val="0"/>
              </a:spcBef>
              <a:spcAft>
                <a:spcPts val="0"/>
              </a:spcAft>
              <a:buClr>
                <a:schemeClr val="dk1"/>
              </a:buClr>
              <a:buSzPts val="1200"/>
              <a:buFont typeface="Arial"/>
              <a:buAutoNum type="arabicPeriod"/>
            </a:pPr>
            <a:r>
              <a:rPr b="0" i="0" lang="zh-TW" sz="1200" u="none" cap="none" strike="noStrike">
                <a:solidFill>
                  <a:schemeClr val="dk1"/>
                </a:solidFill>
                <a:latin typeface="Arial"/>
                <a:ea typeface="Arial"/>
                <a:cs typeface="Arial"/>
                <a:sym typeface="Arial"/>
              </a:rPr>
              <a:t>The light are combined again through a -3dB directional coupler.</a:t>
            </a:r>
            <a:endParaRPr b="0" i="0" sz="1100" u="none" cap="none" strike="noStrike">
              <a:solidFill>
                <a:srgbClr val="000000"/>
              </a:solidFill>
              <a:latin typeface="Arial"/>
              <a:ea typeface="Arial"/>
              <a:cs typeface="Arial"/>
              <a:sym typeface="Arial"/>
            </a:endParaRPr>
          </a:p>
          <a:p>
            <a:pPr indent="-254000" lvl="0" marL="254000" marR="0" rtl="0" algn="l">
              <a:lnSpc>
                <a:spcPct val="150000"/>
              </a:lnSpc>
              <a:spcBef>
                <a:spcPts val="0"/>
              </a:spcBef>
              <a:spcAft>
                <a:spcPts val="0"/>
              </a:spcAft>
              <a:buClr>
                <a:schemeClr val="dk1"/>
              </a:buClr>
              <a:buSzPts val="1200"/>
              <a:buFont typeface="Arial"/>
              <a:buAutoNum type="arabicPeriod"/>
            </a:pPr>
            <a:r>
              <a:rPr b="0" i="0" lang="zh-TW" sz="1200" u="none" cap="none" strike="noStrike">
                <a:solidFill>
                  <a:schemeClr val="dk1"/>
                </a:solidFill>
                <a:latin typeface="Arial"/>
                <a:ea typeface="Arial"/>
                <a:cs typeface="Arial"/>
                <a:sym typeface="Arial"/>
              </a:rPr>
              <a:t>They interfere with each other. </a:t>
            </a:r>
            <a:endParaRPr b="0" i="0" sz="1100" u="none" cap="none" strike="noStrike">
              <a:solidFill>
                <a:srgbClr val="000000"/>
              </a:solidFill>
              <a:latin typeface="Arial"/>
              <a:ea typeface="Arial"/>
              <a:cs typeface="Arial"/>
              <a:sym typeface="Arial"/>
            </a:endParaRPr>
          </a:p>
          <a:p>
            <a:pPr indent="-254000" lvl="0" marL="254000" marR="0" rtl="0" algn="l">
              <a:lnSpc>
                <a:spcPct val="150000"/>
              </a:lnSpc>
              <a:spcBef>
                <a:spcPts val="0"/>
              </a:spcBef>
              <a:spcAft>
                <a:spcPts val="0"/>
              </a:spcAft>
              <a:buClr>
                <a:schemeClr val="dk1"/>
              </a:buClr>
              <a:buSzPts val="1200"/>
              <a:buFont typeface="Arial"/>
              <a:buAutoNum type="arabicPeriod"/>
            </a:pPr>
            <a:r>
              <a:rPr b="0" i="0" lang="zh-TW" sz="1200" u="none" cap="none" strike="noStrike">
                <a:solidFill>
                  <a:schemeClr val="dk1"/>
                </a:solidFill>
                <a:latin typeface="Arial"/>
                <a:ea typeface="Arial"/>
                <a:cs typeface="Arial"/>
                <a:sym typeface="Arial"/>
              </a:rPr>
              <a:t>Destructive interference occurs when the phase difference reaches pi/2</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1"/>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Mach-Zehnder modulator</a:t>
            </a:r>
            <a:endParaRPr/>
          </a:p>
        </p:txBody>
      </p:sp>
      <p:sp>
        <p:nvSpPr>
          <p:cNvPr id="258" name="Google Shape;258;p31"/>
          <p:cNvSpPr txBox="1"/>
          <p:nvPr>
            <p:ph idx="4294967295" type="body"/>
          </p:nvPr>
        </p:nvSpPr>
        <p:spPr>
          <a:xfrm>
            <a:off x="292892" y="503556"/>
            <a:ext cx="8558400" cy="2601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0"/>
              </a:spcBef>
              <a:spcAft>
                <a:spcPts val="1200"/>
              </a:spcAft>
              <a:buClr>
                <a:schemeClr val="accent1"/>
              </a:buClr>
              <a:buSzPct val="83333"/>
              <a:buNone/>
            </a:pPr>
            <a:r>
              <a:rPr lang="zh-TW"/>
              <a:t>Thermo-optic effect</a:t>
            </a:r>
            <a:endParaRPr/>
          </a:p>
        </p:txBody>
      </p:sp>
      <p:sp>
        <p:nvSpPr>
          <p:cNvPr id="259" name="Google Shape;259;p31"/>
          <p:cNvSpPr txBox="1"/>
          <p:nvPr>
            <p:ph idx="4294967295" type="body"/>
          </p:nvPr>
        </p:nvSpPr>
        <p:spPr>
          <a:xfrm>
            <a:off x="292892" y="807561"/>
            <a:ext cx="7886700" cy="818100"/>
          </a:xfrm>
          <a:prstGeom prst="rect">
            <a:avLst/>
          </a:prstGeom>
          <a:noFill/>
          <a:ln>
            <a:noFill/>
          </a:ln>
        </p:spPr>
        <p:txBody>
          <a:bodyPr anchorCtr="0" anchor="t" bIns="34275" lIns="68575" spcFirstLastPara="1" rIns="68575" wrap="square" tIns="34275">
            <a:normAutofit lnSpcReduction="20000"/>
          </a:bodyPr>
          <a:lstStyle/>
          <a:p>
            <a:pPr indent="-177800" lvl="0" marL="177800" rtl="0" algn="l">
              <a:lnSpc>
                <a:spcPct val="90000"/>
              </a:lnSpc>
              <a:spcBef>
                <a:spcPts val="0"/>
              </a:spcBef>
              <a:spcAft>
                <a:spcPts val="0"/>
              </a:spcAft>
              <a:buClr>
                <a:srgbClr val="374151"/>
              </a:buClr>
              <a:buSzPts val="1800"/>
              <a:buChar char="●"/>
            </a:pPr>
            <a:r>
              <a:rPr b="0" i="0" lang="zh-TW">
                <a:solidFill>
                  <a:srgbClr val="374151"/>
                </a:solidFill>
                <a:latin typeface="Arial"/>
                <a:ea typeface="Arial"/>
                <a:cs typeface="Arial"/>
                <a:sym typeface="Arial"/>
              </a:rPr>
              <a:t>We can also use the thermo-optic effect for phase modulation, but its speed is much slower(ms</a:t>
            </a:r>
            <a:r>
              <a:rPr lang="zh-TW">
                <a:solidFill>
                  <a:srgbClr val="374151"/>
                </a:solidFill>
                <a:latin typeface="Arial"/>
                <a:ea typeface="Arial"/>
                <a:cs typeface="Arial"/>
                <a:sym typeface="Arial"/>
              </a:rPr>
              <a:t> </a:t>
            </a:r>
            <a:r>
              <a:rPr b="0" i="0" lang="zh-TW">
                <a:solidFill>
                  <a:srgbClr val="374151"/>
                </a:solidFill>
                <a:latin typeface="Arial"/>
                <a:ea typeface="Arial"/>
                <a:cs typeface="Arial"/>
                <a:sym typeface="Arial"/>
              </a:rPr>
              <a:t>us) compared to the electro-optic effect.</a:t>
            </a:r>
            <a:endParaRPr/>
          </a:p>
          <a:p>
            <a:pPr indent="-63500" lvl="0" marL="177800" rtl="0" algn="l">
              <a:lnSpc>
                <a:spcPct val="90000"/>
              </a:lnSpc>
              <a:spcBef>
                <a:spcPts val="800"/>
              </a:spcBef>
              <a:spcAft>
                <a:spcPts val="1200"/>
              </a:spcAft>
              <a:buClr>
                <a:srgbClr val="243748"/>
              </a:buClr>
              <a:buSzPts val="1800"/>
              <a:buNone/>
            </a:pPr>
            <a:r>
              <a:t/>
            </a:r>
            <a:endParaRPr/>
          </a:p>
        </p:txBody>
      </p:sp>
      <p:pic>
        <p:nvPicPr>
          <p:cNvPr descr="Schematic of the 2 × 2 thermo-optic MMI-MZI switch: (a) overall... |  Download Scientific Diagram" id="260" name="Google Shape;260;p31"/>
          <p:cNvPicPr preferRelativeResize="0"/>
          <p:nvPr/>
        </p:nvPicPr>
        <p:blipFill rotWithShape="1">
          <a:blip r:embed="rId3">
            <a:alphaModFix/>
          </a:blip>
          <a:srcRect b="46615" l="0" r="0" t="0"/>
          <a:stretch/>
        </p:blipFill>
        <p:spPr>
          <a:xfrm>
            <a:off x="454671" y="1537702"/>
            <a:ext cx="8029546" cy="2208809"/>
          </a:xfrm>
          <a:prstGeom prst="rect">
            <a:avLst/>
          </a:prstGeom>
          <a:noFill/>
          <a:ln>
            <a:noFill/>
          </a:ln>
        </p:spPr>
      </p:pic>
      <p:sp>
        <p:nvSpPr>
          <p:cNvPr id="261" name="Google Shape;261;p31"/>
          <p:cNvSpPr txBox="1"/>
          <p:nvPr/>
        </p:nvSpPr>
        <p:spPr>
          <a:xfrm>
            <a:off x="550535" y="3746510"/>
            <a:ext cx="30450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333333"/>
                </a:solidFill>
                <a:latin typeface="Arial"/>
                <a:ea typeface="Arial"/>
                <a:cs typeface="Arial"/>
                <a:sym typeface="Arial"/>
              </a:rPr>
              <a:t>Multi-Mode Interference (MMI) Coupler</a:t>
            </a:r>
            <a:endParaRPr b="0" i="0" sz="1100" u="none" cap="none" strike="noStrike">
              <a:solidFill>
                <a:srgbClr val="000000"/>
              </a:solidFill>
              <a:latin typeface="Arial"/>
              <a:ea typeface="Arial"/>
              <a:cs typeface="Arial"/>
              <a:sym typeface="Arial"/>
            </a:endParaRPr>
          </a:p>
        </p:txBody>
      </p:sp>
      <p:cxnSp>
        <p:nvCxnSpPr>
          <p:cNvPr id="262" name="Google Shape;262;p31"/>
          <p:cNvCxnSpPr/>
          <p:nvPr/>
        </p:nvCxnSpPr>
        <p:spPr>
          <a:xfrm flipH="1" rot="10800000">
            <a:off x="1600200" y="3003656"/>
            <a:ext cx="362100" cy="622800"/>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2"/>
          <p:cNvSpPr txBox="1"/>
          <p:nvPr>
            <p:ph idx="4294967295" type="body"/>
          </p:nvPr>
        </p:nvSpPr>
        <p:spPr>
          <a:xfrm>
            <a:off x="1600200" y="4893469"/>
            <a:ext cx="6100800" cy="150000"/>
          </a:xfrm>
          <a:prstGeom prst="rect">
            <a:avLst/>
          </a:prstGeom>
          <a:noFill/>
          <a:ln>
            <a:noFill/>
          </a:ln>
        </p:spPr>
        <p:txBody>
          <a:bodyPr anchorCtr="0" anchor="t" bIns="34275" lIns="68575" spcFirstLastPara="1" rIns="68575" wrap="square" tIns="34275">
            <a:normAutofit fontScale="40000" lnSpcReduction="20000"/>
          </a:bodyPr>
          <a:lstStyle/>
          <a:p>
            <a:pPr indent="0" lvl="0" marL="0" rtl="0" algn="l">
              <a:lnSpc>
                <a:spcPct val="90000"/>
              </a:lnSpc>
              <a:spcBef>
                <a:spcPts val="0"/>
              </a:spcBef>
              <a:spcAft>
                <a:spcPts val="1200"/>
              </a:spcAft>
              <a:buClr>
                <a:schemeClr val="dk1"/>
              </a:buClr>
              <a:buSzPct val="38889"/>
              <a:buNone/>
            </a:pPr>
            <a:r>
              <a:rPr lang="zh-TW"/>
              <a:t>Photonics Integrated Circuits Shibnath Pathak Research and Development, Lumentum Holdings Inc., San Jose, CA, United States</a:t>
            </a:r>
            <a:endParaRPr/>
          </a:p>
        </p:txBody>
      </p:sp>
      <p:sp>
        <p:nvSpPr>
          <p:cNvPr id="268" name="Google Shape;268;p32"/>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Mach-Zehnder modulator</a:t>
            </a:r>
            <a:endParaRPr/>
          </a:p>
        </p:txBody>
      </p:sp>
      <p:sp>
        <p:nvSpPr>
          <p:cNvPr id="269" name="Google Shape;269;p32"/>
          <p:cNvSpPr txBox="1"/>
          <p:nvPr>
            <p:ph idx="4294967295" type="body"/>
          </p:nvPr>
        </p:nvSpPr>
        <p:spPr>
          <a:xfrm>
            <a:off x="292892" y="503556"/>
            <a:ext cx="8558400" cy="2601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0"/>
              </a:spcBef>
              <a:spcAft>
                <a:spcPts val="1200"/>
              </a:spcAft>
              <a:buClr>
                <a:schemeClr val="accent1"/>
              </a:buClr>
              <a:buSzPct val="83333"/>
              <a:buNone/>
            </a:pPr>
            <a:r>
              <a:rPr lang="zh-TW"/>
              <a:t>Other MZM example : </a:t>
            </a:r>
            <a:endParaRPr/>
          </a:p>
        </p:txBody>
      </p:sp>
      <p:pic>
        <p:nvPicPr>
          <p:cNvPr id="270" name="Google Shape;270;p32"/>
          <p:cNvPicPr preferRelativeResize="0"/>
          <p:nvPr/>
        </p:nvPicPr>
        <p:blipFill rotWithShape="1">
          <a:blip r:embed="rId3">
            <a:alphaModFix/>
          </a:blip>
          <a:srcRect b="0" l="0" r="0" t="0"/>
          <a:stretch/>
        </p:blipFill>
        <p:spPr>
          <a:xfrm>
            <a:off x="203992" y="2517274"/>
            <a:ext cx="4049821" cy="1838059"/>
          </a:xfrm>
          <a:prstGeom prst="rect">
            <a:avLst/>
          </a:prstGeom>
          <a:noFill/>
          <a:ln>
            <a:noFill/>
          </a:ln>
        </p:spPr>
      </p:pic>
      <p:pic>
        <p:nvPicPr>
          <p:cNvPr id="271" name="Google Shape;271;p32"/>
          <p:cNvPicPr preferRelativeResize="0"/>
          <p:nvPr/>
        </p:nvPicPr>
        <p:blipFill rotWithShape="1">
          <a:blip r:embed="rId4">
            <a:alphaModFix/>
          </a:blip>
          <a:srcRect b="0" l="0" r="0" t="0"/>
          <a:stretch/>
        </p:blipFill>
        <p:spPr>
          <a:xfrm>
            <a:off x="436441" y="736679"/>
            <a:ext cx="2474324" cy="1484193"/>
          </a:xfrm>
          <a:prstGeom prst="rect">
            <a:avLst/>
          </a:prstGeom>
          <a:noFill/>
          <a:ln>
            <a:noFill/>
          </a:ln>
        </p:spPr>
      </p:pic>
      <p:sp>
        <p:nvSpPr>
          <p:cNvPr id="272" name="Google Shape;272;p32"/>
          <p:cNvSpPr txBox="1"/>
          <p:nvPr/>
        </p:nvSpPr>
        <p:spPr>
          <a:xfrm>
            <a:off x="887134" y="2284932"/>
            <a:ext cx="20238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dk1"/>
                </a:solidFill>
                <a:latin typeface="Arial"/>
                <a:ea typeface="Arial"/>
                <a:cs typeface="Arial"/>
                <a:sym typeface="Arial"/>
              </a:rPr>
              <a:t>Use MZM as the demux </a:t>
            </a:r>
            <a:endParaRPr b="0" i="0" sz="1100" u="none" cap="none" strike="noStrike">
              <a:solidFill>
                <a:srgbClr val="000000"/>
              </a:solidFill>
              <a:latin typeface="Arial"/>
              <a:ea typeface="Arial"/>
              <a:cs typeface="Arial"/>
              <a:sym typeface="Arial"/>
            </a:endParaRPr>
          </a:p>
        </p:txBody>
      </p:sp>
      <p:sp>
        <p:nvSpPr>
          <p:cNvPr id="273" name="Google Shape;273;p32"/>
          <p:cNvSpPr txBox="1"/>
          <p:nvPr/>
        </p:nvSpPr>
        <p:spPr>
          <a:xfrm>
            <a:off x="1320799" y="4374737"/>
            <a:ext cx="13890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dk1"/>
                </a:solidFill>
                <a:latin typeface="Arial"/>
                <a:ea typeface="Arial"/>
                <a:cs typeface="Arial"/>
                <a:sym typeface="Arial"/>
              </a:rPr>
              <a:t>High order MZM</a:t>
            </a:r>
            <a:endParaRPr b="0" i="0" sz="1100" u="none" cap="none" strike="noStrike">
              <a:solidFill>
                <a:srgbClr val="000000"/>
              </a:solidFill>
              <a:latin typeface="Arial"/>
              <a:ea typeface="Arial"/>
              <a:cs typeface="Arial"/>
              <a:sym typeface="Arial"/>
            </a:endParaRPr>
          </a:p>
        </p:txBody>
      </p:sp>
      <p:pic>
        <p:nvPicPr>
          <p:cNvPr id="274" name="Google Shape;274;p32"/>
          <p:cNvPicPr preferRelativeResize="0"/>
          <p:nvPr/>
        </p:nvPicPr>
        <p:blipFill rotWithShape="1">
          <a:blip r:embed="rId5">
            <a:alphaModFix/>
          </a:blip>
          <a:srcRect b="0" l="0" r="0" t="0"/>
          <a:stretch/>
        </p:blipFill>
        <p:spPr>
          <a:xfrm>
            <a:off x="4440611" y="511536"/>
            <a:ext cx="4410493" cy="4140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3"/>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MZM vs. MRM</a:t>
            </a:r>
            <a:endParaRPr/>
          </a:p>
        </p:txBody>
      </p:sp>
      <p:pic>
        <p:nvPicPr>
          <p:cNvPr id="280" name="Google Shape;280;p33"/>
          <p:cNvPicPr preferRelativeResize="0"/>
          <p:nvPr/>
        </p:nvPicPr>
        <p:blipFill rotWithShape="1">
          <a:blip r:embed="rId3">
            <a:alphaModFix/>
          </a:blip>
          <a:srcRect b="0" l="0" r="0" t="0"/>
          <a:stretch/>
        </p:blipFill>
        <p:spPr>
          <a:xfrm>
            <a:off x="203970" y="487800"/>
            <a:ext cx="6008516" cy="4167901"/>
          </a:xfrm>
          <a:prstGeom prst="rect">
            <a:avLst/>
          </a:prstGeom>
          <a:noFill/>
          <a:ln>
            <a:noFill/>
          </a:ln>
        </p:spPr>
      </p:pic>
      <p:sp>
        <p:nvSpPr>
          <p:cNvPr id="281" name="Google Shape;281;p33"/>
          <p:cNvSpPr/>
          <p:nvPr/>
        </p:nvSpPr>
        <p:spPr>
          <a:xfrm>
            <a:off x="3208228" y="3500846"/>
            <a:ext cx="2253300" cy="306900"/>
          </a:xfrm>
          <a:prstGeom prst="rect">
            <a:avLst/>
          </a:prstGeom>
          <a:noFill/>
          <a:ln cap="flat" cmpd="sng" w="38100">
            <a:solidFill>
              <a:srgbClr val="153E4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2" name="Google Shape;282;p33"/>
          <p:cNvSpPr txBox="1"/>
          <p:nvPr/>
        </p:nvSpPr>
        <p:spPr>
          <a:xfrm>
            <a:off x="5610497" y="1468716"/>
            <a:ext cx="3329700" cy="2224200"/>
          </a:xfrm>
          <a:prstGeom prst="rect">
            <a:avLst/>
          </a:prstGeom>
          <a:noFill/>
          <a:ln>
            <a:noFill/>
          </a:ln>
        </p:spPr>
        <p:txBody>
          <a:bodyPr anchorCtr="0" anchor="t" bIns="34275" lIns="68575" spcFirstLastPara="1" rIns="68575" wrap="square" tIns="34275">
            <a:spAutoFit/>
          </a:bodyPr>
          <a:lstStyle/>
          <a:p>
            <a:pPr indent="-215900" lvl="0" marL="215900" marR="0" rtl="0" algn="l">
              <a:lnSpc>
                <a:spcPct val="100000"/>
              </a:lnSpc>
              <a:spcBef>
                <a:spcPts val="0"/>
              </a:spcBef>
              <a:spcAft>
                <a:spcPts val="0"/>
              </a:spcAft>
              <a:buClr>
                <a:schemeClr val="dk1"/>
              </a:buClr>
              <a:buSzPts val="1400"/>
              <a:buFont typeface="Arial"/>
              <a:buChar char="•"/>
            </a:pPr>
            <a:r>
              <a:rPr b="0" i="0" lang="zh-TW" sz="1400" u="none" cap="none" strike="noStrike">
                <a:solidFill>
                  <a:schemeClr val="dk1"/>
                </a:solidFill>
                <a:latin typeface="Arial"/>
                <a:ea typeface="Arial"/>
                <a:cs typeface="Arial"/>
                <a:sym typeface="Arial"/>
              </a:rPr>
              <a:t>The frequency response of MZM is broader and flatter. </a:t>
            </a:r>
            <a:endParaRPr b="0" i="0" sz="1100" u="none" cap="none" strike="noStrike">
              <a:solidFill>
                <a:srgbClr val="000000"/>
              </a:solidFill>
              <a:latin typeface="Arial"/>
              <a:ea typeface="Arial"/>
              <a:cs typeface="Arial"/>
              <a:sym typeface="Arial"/>
            </a:endParaRPr>
          </a:p>
          <a:p>
            <a:pPr indent="-127000" lvl="0" marL="21590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215900" lvl="0" marL="215900" marR="0" rtl="0" algn="l">
              <a:lnSpc>
                <a:spcPct val="100000"/>
              </a:lnSpc>
              <a:spcBef>
                <a:spcPts val="0"/>
              </a:spcBef>
              <a:spcAft>
                <a:spcPts val="0"/>
              </a:spcAft>
              <a:buClr>
                <a:schemeClr val="dk1"/>
              </a:buClr>
              <a:buSzPts val="1400"/>
              <a:buFont typeface="Arial"/>
              <a:buChar char="•"/>
            </a:pPr>
            <a:r>
              <a:rPr b="0" i="0" lang="zh-TW" sz="1400" u="none" cap="none" strike="noStrike">
                <a:solidFill>
                  <a:schemeClr val="dk1"/>
                </a:solidFill>
                <a:latin typeface="Arial"/>
                <a:ea typeface="Arial"/>
                <a:cs typeface="Arial"/>
                <a:sym typeface="Arial"/>
              </a:rPr>
              <a:t>MRM has a narrower bandwidth, and its peak variation is sharper, but it requires a smaller footprint</a:t>
            </a:r>
            <a:endParaRPr b="0" i="0" sz="1100" u="none" cap="none" strike="noStrike">
              <a:solidFill>
                <a:srgbClr val="000000"/>
              </a:solidFill>
              <a:latin typeface="Arial"/>
              <a:ea typeface="Arial"/>
              <a:cs typeface="Arial"/>
              <a:sym typeface="Arial"/>
            </a:endParaRPr>
          </a:p>
          <a:p>
            <a:pPr indent="-127000" lvl="0" marL="21590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215900" lvl="0" marL="215900" marR="0" rtl="0" algn="l">
              <a:lnSpc>
                <a:spcPct val="100000"/>
              </a:lnSpc>
              <a:spcBef>
                <a:spcPts val="0"/>
              </a:spcBef>
              <a:spcAft>
                <a:spcPts val="0"/>
              </a:spcAft>
              <a:buClr>
                <a:schemeClr val="dk1"/>
              </a:buClr>
              <a:buSzPts val="1400"/>
              <a:buFont typeface="Arial"/>
              <a:buChar char="•"/>
            </a:pPr>
            <a:r>
              <a:rPr b="0" i="0" lang="zh-TW" sz="1400" u="none" cap="none" strike="noStrike">
                <a:solidFill>
                  <a:schemeClr val="dk1"/>
                </a:solidFill>
                <a:latin typeface="Arial"/>
                <a:ea typeface="Arial"/>
                <a:cs typeface="Arial"/>
                <a:sym typeface="Arial"/>
              </a:rPr>
              <a:t>We usually mix MZM and MRM in design to get the broadband and small footprint.</a:t>
            </a:r>
            <a:endParaRPr b="0" i="0" sz="1100" u="none" cap="none" strike="noStrike">
              <a:solidFill>
                <a:srgbClr val="000000"/>
              </a:solidFill>
              <a:latin typeface="Arial"/>
              <a:ea typeface="Arial"/>
              <a:cs typeface="Arial"/>
              <a:sym typeface="Arial"/>
            </a:endParaRPr>
          </a:p>
        </p:txBody>
      </p:sp>
      <p:sp>
        <p:nvSpPr>
          <p:cNvPr id="283" name="Google Shape;283;p33"/>
          <p:cNvSpPr/>
          <p:nvPr/>
        </p:nvSpPr>
        <p:spPr>
          <a:xfrm>
            <a:off x="473528" y="4052752"/>
            <a:ext cx="2253300" cy="306900"/>
          </a:xfrm>
          <a:prstGeom prst="rect">
            <a:avLst/>
          </a:prstGeom>
          <a:noFill/>
          <a:ln cap="flat" cmpd="sng" w="38100">
            <a:solidFill>
              <a:srgbClr val="153E4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4"/>
          <p:cNvSpPr txBox="1"/>
          <p:nvPr>
            <p:ph idx="4294967295" type="body"/>
          </p:nvPr>
        </p:nvSpPr>
        <p:spPr>
          <a:xfrm>
            <a:off x="292892" y="497086"/>
            <a:ext cx="7886700" cy="4199400"/>
          </a:xfrm>
          <a:prstGeom prst="rect">
            <a:avLst/>
          </a:prstGeom>
          <a:noFill/>
          <a:ln>
            <a:noFill/>
          </a:ln>
        </p:spPr>
        <p:txBody>
          <a:bodyPr anchorCtr="0" anchor="t" bIns="34275" lIns="68575" spcFirstLastPara="1" rIns="68575" wrap="square" tIns="34275">
            <a:normAutofit/>
          </a:bodyPr>
          <a:lstStyle/>
          <a:p>
            <a:pPr indent="-177800" lvl="0" marL="177800" rtl="0" algn="l">
              <a:lnSpc>
                <a:spcPct val="90000"/>
              </a:lnSpc>
              <a:spcBef>
                <a:spcPts val="0"/>
              </a:spcBef>
              <a:spcAft>
                <a:spcPts val="1200"/>
              </a:spcAft>
              <a:buClr>
                <a:srgbClr val="243748"/>
              </a:buClr>
              <a:buSzPts val="1800"/>
              <a:buChar char="●"/>
            </a:pPr>
            <a:r>
              <a:rPr lang="zh-TW"/>
              <a:t>The operational bandwidth of the silicon waveguide heterogeneously integrated germanium photodiode can reach above 35GHz.</a:t>
            </a:r>
            <a:endParaRPr/>
          </a:p>
        </p:txBody>
      </p:sp>
      <p:sp>
        <p:nvSpPr>
          <p:cNvPr id="289" name="Google Shape;289;p34"/>
          <p:cNvSpPr txBox="1"/>
          <p:nvPr>
            <p:ph idx="4294967295" type="body"/>
          </p:nvPr>
        </p:nvSpPr>
        <p:spPr>
          <a:xfrm>
            <a:off x="1600200" y="4893469"/>
            <a:ext cx="6100800" cy="150000"/>
          </a:xfrm>
          <a:prstGeom prst="rect">
            <a:avLst/>
          </a:prstGeom>
          <a:noFill/>
          <a:ln>
            <a:noFill/>
          </a:ln>
        </p:spPr>
        <p:txBody>
          <a:bodyPr anchorCtr="0" anchor="t" bIns="34275" lIns="68575" spcFirstLastPara="1" rIns="68575" wrap="square" tIns="34275">
            <a:normAutofit fontScale="40000" lnSpcReduction="20000"/>
          </a:bodyPr>
          <a:lstStyle/>
          <a:p>
            <a:pPr indent="0" lvl="0" marL="0" rtl="0" algn="l">
              <a:lnSpc>
                <a:spcPct val="90000"/>
              </a:lnSpc>
              <a:spcBef>
                <a:spcPts val="0"/>
              </a:spcBef>
              <a:spcAft>
                <a:spcPts val="1200"/>
              </a:spcAft>
              <a:buClr>
                <a:schemeClr val="dk1"/>
              </a:buClr>
              <a:buSzPct val="38889"/>
              <a:buNone/>
            </a:pPr>
            <a:r>
              <a:rPr lang="zh-TW"/>
              <a:t>https://opg.optica.org/oe/fulltext.cfm?uri=oe-18-5-4986&amp;id=196132</a:t>
            </a:r>
            <a:endParaRPr/>
          </a:p>
        </p:txBody>
      </p:sp>
      <p:sp>
        <p:nvSpPr>
          <p:cNvPr id="290" name="Google Shape;290;p34"/>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Ge on Si Photonics</a:t>
            </a:r>
            <a:br>
              <a:rPr lang="zh-TW"/>
            </a:br>
            <a:endParaRPr/>
          </a:p>
        </p:txBody>
      </p:sp>
      <p:pic>
        <p:nvPicPr>
          <p:cNvPr id="291" name="Google Shape;291;p34"/>
          <p:cNvPicPr preferRelativeResize="0"/>
          <p:nvPr/>
        </p:nvPicPr>
        <p:blipFill rotWithShape="1">
          <a:blip r:embed="rId3">
            <a:alphaModFix/>
          </a:blip>
          <a:srcRect b="0" l="0" r="0" t="0"/>
          <a:stretch/>
        </p:blipFill>
        <p:spPr>
          <a:xfrm>
            <a:off x="292892" y="1372982"/>
            <a:ext cx="3464439" cy="3020990"/>
          </a:xfrm>
          <a:prstGeom prst="rect">
            <a:avLst/>
          </a:prstGeom>
          <a:noFill/>
          <a:ln>
            <a:noFill/>
          </a:ln>
        </p:spPr>
      </p:pic>
      <p:pic>
        <p:nvPicPr>
          <p:cNvPr id="292" name="Google Shape;292;p34"/>
          <p:cNvPicPr preferRelativeResize="0"/>
          <p:nvPr/>
        </p:nvPicPr>
        <p:blipFill rotWithShape="1">
          <a:blip r:embed="rId4">
            <a:alphaModFix/>
          </a:blip>
          <a:srcRect b="0" l="0" r="0" t="0"/>
          <a:stretch/>
        </p:blipFill>
        <p:spPr>
          <a:xfrm>
            <a:off x="4572000" y="1314345"/>
            <a:ext cx="4124705" cy="1316987"/>
          </a:xfrm>
          <a:prstGeom prst="rect">
            <a:avLst/>
          </a:prstGeom>
          <a:noFill/>
          <a:ln>
            <a:noFill/>
          </a:ln>
        </p:spPr>
      </p:pic>
      <p:sp>
        <p:nvSpPr>
          <p:cNvPr id="293" name="Google Shape;293;p34"/>
          <p:cNvSpPr/>
          <p:nvPr/>
        </p:nvSpPr>
        <p:spPr>
          <a:xfrm>
            <a:off x="7501919" y="1372981"/>
            <a:ext cx="727800" cy="291900"/>
          </a:xfrm>
          <a:prstGeom prst="roundRect">
            <a:avLst>
              <a:gd fmla="val 16667" name="adj"/>
            </a:avLst>
          </a:prstGeom>
          <a:noFill/>
          <a:ln cap="flat" cmpd="sng" w="76200">
            <a:solidFill>
              <a:srgbClr val="F8B308"/>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294" name="Google Shape;294;p34"/>
          <p:cNvPicPr preferRelativeResize="0"/>
          <p:nvPr/>
        </p:nvPicPr>
        <p:blipFill rotWithShape="1">
          <a:blip r:embed="rId5">
            <a:alphaModFix/>
          </a:blip>
          <a:srcRect b="0" l="0" r="0" t="0"/>
          <a:stretch/>
        </p:blipFill>
        <p:spPr>
          <a:xfrm>
            <a:off x="4968437" y="2828321"/>
            <a:ext cx="2959828" cy="1429923"/>
          </a:xfrm>
          <a:prstGeom prst="rect">
            <a:avLst/>
          </a:prstGeom>
          <a:noFill/>
          <a:ln>
            <a:noFill/>
          </a:ln>
        </p:spPr>
      </p:pic>
      <p:cxnSp>
        <p:nvCxnSpPr>
          <p:cNvPr id="295" name="Google Shape;295;p34"/>
          <p:cNvCxnSpPr/>
          <p:nvPr/>
        </p:nvCxnSpPr>
        <p:spPr>
          <a:xfrm rot="10800000">
            <a:off x="3636818" y="2571927"/>
            <a:ext cx="1600200" cy="483000"/>
          </a:xfrm>
          <a:prstGeom prst="straightConnector1">
            <a:avLst/>
          </a:prstGeom>
          <a:noFill/>
          <a:ln cap="flat" cmpd="sng" w="38100">
            <a:solidFill>
              <a:schemeClr val="accent1"/>
            </a:solidFill>
            <a:prstDash val="solid"/>
            <a:miter lim="800000"/>
            <a:headEnd len="sm" w="sm" type="none"/>
            <a:tailEnd len="med" w="med" type="triangl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5"/>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3C3C3B"/>
              </a:buClr>
              <a:buSzPct val="83333"/>
              <a:buFont typeface="Arial"/>
              <a:buNone/>
            </a:pPr>
            <a:r>
              <a:rPr lang="zh-TW">
                <a:solidFill>
                  <a:srgbClr val="3C3C3B"/>
                </a:solidFill>
              </a:rPr>
              <a:t>Simplified optical transmission system</a:t>
            </a:r>
            <a:endParaRPr/>
          </a:p>
        </p:txBody>
      </p:sp>
      <p:sp>
        <p:nvSpPr>
          <p:cNvPr id="301" name="Google Shape;301;p35"/>
          <p:cNvSpPr txBox="1"/>
          <p:nvPr/>
        </p:nvSpPr>
        <p:spPr>
          <a:xfrm>
            <a:off x="318346" y="3257648"/>
            <a:ext cx="8910300" cy="1793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dk1"/>
                </a:solidFill>
                <a:latin typeface="Arial"/>
                <a:ea typeface="Arial"/>
                <a:cs typeface="Arial"/>
                <a:sym typeface="Arial"/>
              </a:rPr>
              <a:t>The diagram outlines a basic optical communication system:</a:t>
            </a:r>
            <a:endParaRPr b="0" i="0" sz="1100" u="none" cap="none" strike="noStrike">
              <a:solidFill>
                <a:srgbClr val="000000"/>
              </a:solidFill>
              <a:latin typeface="Arial"/>
              <a:ea typeface="Arial"/>
              <a:cs typeface="Arial"/>
              <a:sym typeface="Arial"/>
            </a:endParaRPr>
          </a:p>
          <a:p>
            <a:pPr indent="-254000" lvl="0" marL="254000" marR="0" rtl="0" algn="l">
              <a:lnSpc>
                <a:spcPct val="100000"/>
              </a:lnSpc>
              <a:spcBef>
                <a:spcPts val="0"/>
              </a:spcBef>
              <a:spcAft>
                <a:spcPts val="0"/>
              </a:spcAft>
              <a:buClr>
                <a:schemeClr val="dk1"/>
              </a:buClr>
              <a:buSzPts val="1400"/>
              <a:buFont typeface="Arial"/>
              <a:buAutoNum type="arabicPeriod"/>
            </a:pPr>
            <a:r>
              <a:rPr b="0" i="0" lang="zh-TW" sz="1400" u="none" cap="none" strike="noStrike">
                <a:solidFill>
                  <a:schemeClr val="dk1"/>
                </a:solidFill>
                <a:latin typeface="Arial"/>
                <a:ea typeface="Arial"/>
                <a:cs typeface="Arial"/>
                <a:sym typeface="Arial"/>
              </a:rPr>
              <a:t>A continuous light source (typically a laser) is essential.</a:t>
            </a:r>
            <a:endParaRPr b="0" i="0" sz="1100" u="none" cap="none" strike="noStrike">
              <a:solidFill>
                <a:srgbClr val="000000"/>
              </a:solidFill>
              <a:latin typeface="Arial"/>
              <a:ea typeface="Arial"/>
              <a:cs typeface="Arial"/>
              <a:sym typeface="Arial"/>
            </a:endParaRPr>
          </a:p>
          <a:p>
            <a:pPr indent="-254000" lvl="0" marL="254000" marR="0" rtl="0" algn="l">
              <a:lnSpc>
                <a:spcPct val="100000"/>
              </a:lnSpc>
              <a:spcBef>
                <a:spcPts val="0"/>
              </a:spcBef>
              <a:spcAft>
                <a:spcPts val="0"/>
              </a:spcAft>
              <a:buClr>
                <a:schemeClr val="dk1"/>
              </a:buClr>
              <a:buSzPts val="1400"/>
              <a:buFont typeface="Arial"/>
              <a:buAutoNum type="arabicPeriod"/>
            </a:pPr>
            <a:r>
              <a:rPr b="0" i="0" lang="zh-TW" sz="1400" u="none" cap="none" strike="noStrike">
                <a:solidFill>
                  <a:schemeClr val="dk1"/>
                </a:solidFill>
                <a:latin typeface="Arial"/>
                <a:ea typeface="Arial"/>
                <a:cs typeface="Arial"/>
                <a:sym typeface="Arial"/>
              </a:rPr>
              <a:t>Electronic signals are encoded into an amplitude modulator (either EOM or EAM).</a:t>
            </a:r>
            <a:endParaRPr b="0" i="0" sz="1100" u="none" cap="none" strike="noStrike">
              <a:solidFill>
                <a:srgbClr val="000000"/>
              </a:solidFill>
              <a:latin typeface="Arial"/>
              <a:ea typeface="Arial"/>
              <a:cs typeface="Arial"/>
              <a:sym typeface="Arial"/>
            </a:endParaRPr>
          </a:p>
          <a:p>
            <a:pPr indent="-254000" lvl="0" marL="254000" marR="0" rtl="0" algn="l">
              <a:lnSpc>
                <a:spcPct val="100000"/>
              </a:lnSpc>
              <a:spcBef>
                <a:spcPts val="0"/>
              </a:spcBef>
              <a:spcAft>
                <a:spcPts val="0"/>
              </a:spcAft>
              <a:buClr>
                <a:schemeClr val="dk1"/>
              </a:buClr>
              <a:buSzPts val="1400"/>
              <a:buFont typeface="Arial"/>
              <a:buAutoNum type="arabicPeriod"/>
            </a:pPr>
            <a:r>
              <a:rPr b="0" i="0" lang="zh-TW" sz="1400" u="none" cap="none" strike="noStrike">
                <a:solidFill>
                  <a:schemeClr val="dk1"/>
                </a:solidFill>
                <a:latin typeface="Arial"/>
                <a:ea typeface="Arial"/>
                <a:cs typeface="Arial"/>
                <a:sym typeface="Arial"/>
              </a:rPr>
              <a:t>This modulated light conveys information to our DUT.</a:t>
            </a:r>
            <a:endParaRPr b="0" i="0" sz="1100" u="none" cap="none" strike="noStrike">
              <a:solidFill>
                <a:srgbClr val="000000"/>
              </a:solidFill>
              <a:latin typeface="Arial"/>
              <a:ea typeface="Arial"/>
              <a:cs typeface="Arial"/>
              <a:sym typeface="Arial"/>
            </a:endParaRPr>
          </a:p>
          <a:p>
            <a:pPr indent="-254000" lvl="0" marL="254000" marR="0" rtl="0" algn="l">
              <a:lnSpc>
                <a:spcPct val="100000"/>
              </a:lnSpc>
              <a:spcBef>
                <a:spcPts val="0"/>
              </a:spcBef>
              <a:spcAft>
                <a:spcPts val="0"/>
              </a:spcAft>
              <a:buClr>
                <a:schemeClr val="dk1"/>
              </a:buClr>
              <a:buSzPts val="1400"/>
              <a:buFont typeface="Arial"/>
              <a:buAutoNum type="arabicPeriod"/>
            </a:pPr>
            <a:r>
              <a:rPr b="0" i="0" lang="zh-TW" sz="1400" u="none" cap="none" strike="noStrike">
                <a:solidFill>
                  <a:schemeClr val="dk1"/>
                </a:solidFill>
                <a:latin typeface="Arial"/>
                <a:ea typeface="Arial"/>
                <a:cs typeface="Arial"/>
                <a:sym typeface="Arial"/>
              </a:rPr>
              <a:t>A directional coupler divides the signal between the OSA and the high-speed O2E (high speed photodetector)</a:t>
            </a:r>
            <a:endParaRPr b="0" i="0" sz="1100" u="none" cap="none" strike="noStrike">
              <a:solidFill>
                <a:srgbClr val="000000"/>
              </a:solidFill>
              <a:latin typeface="Arial"/>
              <a:ea typeface="Arial"/>
              <a:cs typeface="Arial"/>
              <a:sym typeface="Arial"/>
            </a:endParaRPr>
          </a:p>
          <a:p>
            <a:pPr indent="-254000" lvl="0" marL="254000" marR="0" rtl="0" algn="l">
              <a:lnSpc>
                <a:spcPct val="100000"/>
              </a:lnSpc>
              <a:spcBef>
                <a:spcPts val="0"/>
              </a:spcBef>
              <a:spcAft>
                <a:spcPts val="0"/>
              </a:spcAft>
              <a:buClr>
                <a:schemeClr val="dk1"/>
              </a:buClr>
              <a:buSzPts val="1400"/>
              <a:buFont typeface="Arial"/>
              <a:buAutoNum type="arabicPeriod"/>
            </a:pPr>
            <a:r>
              <a:rPr b="0" i="0" lang="zh-TW" sz="1400" u="none" cap="none" strike="noStrike">
                <a:solidFill>
                  <a:schemeClr val="dk1"/>
                </a:solidFill>
                <a:latin typeface="Arial"/>
                <a:ea typeface="Arial"/>
                <a:cs typeface="Arial"/>
                <a:sym typeface="Arial"/>
              </a:rPr>
              <a:t>Use OSA to monitor the spectrum</a:t>
            </a:r>
            <a:endParaRPr b="0" i="0" sz="1100" u="none" cap="none" strike="noStrike">
              <a:solidFill>
                <a:srgbClr val="000000"/>
              </a:solidFill>
              <a:latin typeface="Arial"/>
              <a:ea typeface="Arial"/>
              <a:cs typeface="Arial"/>
              <a:sym typeface="Arial"/>
            </a:endParaRPr>
          </a:p>
          <a:p>
            <a:pPr indent="-254000" lvl="0" marL="254000" marR="0" rtl="0" algn="l">
              <a:lnSpc>
                <a:spcPct val="100000"/>
              </a:lnSpc>
              <a:spcBef>
                <a:spcPts val="0"/>
              </a:spcBef>
              <a:spcAft>
                <a:spcPts val="0"/>
              </a:spcAft>
              <a:buClr>
                <a:schemeClr val="dk1"/>
              </a:buClr>
              <a:buSzPts val="1400"/>
              <a:buFont typeface="Arial"/>
              <a:buAutoNum type="arabicPeriod"/>
            </a:pPr>
            <a:r>
              <a:rPr b="0" i="0" lang="zh-TW" sz="1400" u="none" cap="none" strike="noStrike">
                <a:solidFill>
                  <a:schemeClr val="dk1"/>
                </a:solidFill>
                <a:latin typeface="Arial"/>
                <a:ea typeface="Arial"/>
                <a:cs typeface="Arial"/>
                <a:sym typeface="Arial"/>
              </a:rPr>
              <a:t>The O2E converts the optical signal into electronic and see its signal quality. </a:t>
            </a:r>
            <a:endParaRPr b="0" i="0" sz="1100" u="none" cap="none" strike="noStrike">
              <a:solidFill>
                <a:srgbClr val="000000"/>
              </a:solidFill>
              <a:latin typeface="Arial"/>
              <a:ea typeface="Arial"/>
              <a:cs typeface="Arial"/>
              <a:sym typeface="Arial"/>
            </a:endParaRPr>
          </a:p>
        </p:txBody>
      </p:sp>
      <p:grpSp>
        <p:nvGrpSpPr>
          <p:cNvPr id="302" name="Google Shape;302;p35"/>
          <p:cNvGrpSpPr/>
          <p:nvPr/>
        </p:nvGrpSpPr>
        <p:grpSpPr>
          <a:xfrm>
            <a:off x="25310" y="454835"/>
            <a:ext cx="8118925" cy="2813480"/>
            <a:chOff x="33747" y="606447"/>
            <a:chExt cx="10825233" cy="3751306"/>
          </a:xfrm>
        </p:grpSpPr>
        <p:pic>
          <p:nvPicPr>
            <p:cNvPr id="303" name="Google Shape;303;p35"/>
            <p:cNvPicPr preferRelativeResize="0"/>
            <p:nvPr/>
          </p:nvPicPr>
          <p:blipFill rotWithShape="1">
            <a:blip r:embed="rId3">
              <a:alphaModFix/>
            </a:blip>
            <a:srcRect b="0" l="0" r="0" t="0"/>
            <a:stretch/>
          </p:blipFill>
          <p:spPr>
            <a:xfrm>
              <a:off x="348642" y="606447"/>
              <a:ext cx="10510338" cy="3751306"/>
            </a:xfrm>
            <a:prstGeom prst="rect">
              <a:avLst/>
            </a:prstGeom>
            <a:noFill/>
            <a:ln>
              <a:noFill/>
            </a:ln>
          </p:spPr>
        </p:pic>
        <p:sp>
          <p:nvSpPr>
            <p:cNvPr id="304" name="Google Shape;304;p35"/>
            <p:cNvSpPr/>
            <p:nvPr/>
          </p:nvSpPr>
          <p:spPr>
            <a:xfrm>
              <a:off x="429491" y="662782"/>
              <a:ext cx="2653200" cy="1103700"/>
            </a:xfrm>
            <a:prstGeom prst="rect">
              <a:avLst/>
            </a:prstGeom>
            <a:noFill/>
            <a:ln cap="flat" cmpd="sng" w="3810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5" name="Google Shape;305;p35"/>
            <p:cNvSpPr/>
            <p:nvPr/>
          </p:nvSpPr>
          <p:spPr>
            <a:xfrm>
              <a:off x="383983" y="1927105"/>
              <a:ext cx="1140000" cy="1276800"/>
            </a:xfrm>
            <a:prstGeom prst="rect">
              <a:avLst/>
            </a:prstGeom>
            <a:noFill/>
            <a:ln cap="flat" cmpd="sng" w="3810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6" name="Google Shape;306;p35"/>
            <p:cNvSpPr/>
            <p:nvPr/>
          </p:nvSpPr>
          <p:spPr>
            <a:xfrm>
              <a:off x="1756063" y="1997463"/>
              <a:ext cx="1140000" cy="1276800"/>
            </a:xfrm>
            <a:prstGeom prst="rect">
              <a:avLst/>
            </a:prstGeom>
            <a:noFill/>
            <a:ln cap="flat" cmpd="sng" w="3810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7" name="Google Shape;307;p35"/>
            <p:cNvSpPr/>
            <p:nvPr/>
          </p:nvSpPr>
          <p:spPr>
            <a:xfrm>
              <a:off x="5541818" y="2203534"/>
              <a:ext cx="1335600" cy="723900"/>
            </a:xfrm>
            <a:prstGeom prst="rect">
              <a:avLst/>
            </a:prstGeom>
            <a:noFill/>
            <a:ln cap="flat" cmpd="sng" w="3810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8" name="Google Shape;308;p35"/>
            <p:cNvSpPr/>
            <p:nvPr/>
          </p:nvSpPr>
          <p:spPr>
            <a:xfrm>
              <a:off x="6968836" y="1790552"/>
              <a:ext cx="3803100" cy="1333500"/>
            </a:xfrm>
            <a:prstGeom prst="rect">
              <a:avLst/>
            </a:prstGeom>
            <a:noFill/>
            <a:ln cap="flat" cmpd="sng" w="3810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9" name="Google Shape;309;p35"/>
            <p:cNvSpPr/>
            <p:nvPr/>
          </p:nvSpPr>
          <p:spPr>
            <a:xfrm>
              <a:off x="5713202" y="3121917"/>
              <a:ext cx="1539600" cy="808500"/>
            </a:xfrm>
            <a:prstGeom prst="rect">
              <a:avLst/>
            </a:prstGeom>
            <a:noFill/>
            <a:ln cap="flat" cmpd="sng" w="3810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0" name="Google Shape;310;p35"/>
            <p:cNvSpPr txBox="1"/>
            <p:nvPr/>
          </p:nvSpPr>
          <p:spPr>
            <a:xfrm>
              <a:off x="137952" y="3274317"/>
              <a:ext cx="419100" cy="379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accent6"/>
                  </a:solidFill>
                  <a:latin typeface="Arial"/>
                  <a:ea typeface="Arial"/>
                  <a:cs typeface="Arial"/>
                  <a:sym typeface="Arial"/>
                </a:rPr>
                <a:t>➊</a:t>
              </a:r>
              <a:endParaRPr b="0" i="0" sz="1400" u="none" cap="none" strike="noStrike">
                <a:solidFill>
                  <a:schemeClr val="dk1"/>
                </a:solidFill>
                <a:latin typeface="Arial"/>
                <a:ea typeface="Arial"/>
                <a:cs typeface="Arial"/>
                <a:sym typeface="Arial"/>
              </a:endParaRPr>
            </a:p>
          </p:txBody>
        </p:sp>
        <p:sp>
          <p:nvSpPr>
            <p:cNvPr id="311" name="Google Shape;311;p35"/>
            <p:cNvSpPr txBox="1"/>
            <p:nvPr/>
          </p:nvSpPr>
          <p:spPr>
            <a:xfrm>
              <a:off x="33747" y="1123670"/>
              <a:ext cx="419100" cy="379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accent6"/>
                  </a:solidFill>
                  <a:latin typeface="Arial"/>
                  <a:ea typeface="Arial"/>
                  <a:cs typeface="Arial"/>
                  <a:sym typeface="Arial"/>
                </a:rPr>
                <a:t>➋</a:t>
              </a:r>
              <a:endParaRPr b="0" i="0" sz="1400" u="none" cap="none" strike="noStrike">
                <a:solidFill>
                  <a:schemeClr val="dk1"/>
                </a:solidFill>
                <a:latin typeface="Arial"/>
                <a:ea typeface="Arial"/>
                <a:cs typeface="Arial"/>
                <a:sym typeface="Arial"/>
              </a:endParaRPr>
            </a:p>
          </p:txBody>
        </p:sp>
        <p:sp>
          <p:nvSpPr>
            <p:cNvPr id="312" name="Google Shape;312;p35"/>
            <p:cNvSpPr txBox="1"/>
            <p:nvPr/>
          </p:nvSpPr>
          <p:spPr>
            <a:xfrm>
              <a:off x="2896080" y="2985847"/>
              <a:ext cx="503400" cy="379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accent6"/>
                  </a:solidFill>
                  <a:latin typeface="Arial"/>
                  <a:ea typeface="Arial"/>
                  <a:cs typeface="Arial"/>
                  <a:sym typeface="Arial"/>
                </a:rPr>
                <a:t>➌</a:t>
              </a:r>
              <a:endParaRPr b="0" i="0" sz="1400" u="none" cap="none" strike="noStrike">
                <a:solidFill>
                  <a:schemeClr val="dk1"/>
                </a:solidFill>
                <a:latin typeface="Arial"/>
                <a:ea typeface="Arial"/>
                <a:cs typeface="Arial"/>
                <a:sym typeface="Arial"/>
              </a:endParaRPr>
            </a:p>
          </p:txBody>
        </p:sp>
        <p:sp>
          <p:nvSpPr>
            <p:cNvPr id="313" name="Google Shape;313;p35"/>
            <p:cNvSpPr txBox="1"/>
            <p:nvPr/>
          </p:nvSpPr>
          <p:spPr>
            <a:xfrm>
              <a:off x="5676898" y="1857374"/>
              <a:ext cx="419100" cy="379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accent6"/>
                  </a:solidFill>
                  <a:latin typeface="Arial"/>
                  <a:ea typeface="Arial"/>
                  <a:cs typeface="Arial"/>
                  <a:sym typeface="Arial"/>
                </a:rPr>
                <a:t>➍</a:t>
              </a:r>
              <a:endParaRPr b="0" i="0" sz="1400" u="none" cap="none" strike="noStrike">
                <a:solidFill>
                  <a:schemeClr val="dk1"/>
                </a:solidFill>
                <a:latin typeface="Arial"/>
                <a:ea typeface="Arial"/>
                <a:cs typeface="Arial"/>
                <a:sym typeface="Arial"/>
              </a:endParaRPr>
            </a:p>
          </p:txBody>
        </p:sp>
        <p:sp>
          <p:nvSpPr>
            <p:cNvPr id="314" name="Google Shape;314;p35"/>
            <p:cNvSpPr txBox="1"/>
            <p:nvPr/>
          </p:nvSpPr>
          <p:spPr>
            <a:xfrm>
              <a:off x="6808550" y="3900949"/>
              <a:ext cx="444300" cy="379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accent6"/>
                  </a:solidFill>
                  <a:latin typeface="Arial"/>
                  <a:ea typeface="Arial"/>
                  <a:cs typeface="Arial"/>
                  <a:sym typeface="Arial"/>
                </a:rPr>
                <a:t>➎</a:t>
              </a:r>
              <a:endParaRPr b="0" i="0" sz="1400" u="none" cap="none" strike="noStrike">
                <a:solidFill>
                  <a:schemeClr val="dk1"/>
                </a:solidFill>
                <a:latin typeface="Arial"/>
                <a:ea typeface="Arial"/>
                <a:cs typeface="Arial"/>
                <a:sym typeface="Arial"/>
              </a:endParaRPr>
            </a:p>
          </p:txBody>
        </p:sp>
        <p:sp>
          <p:nvSpPr>
            <p:cNvPr id="315" name="Google Shape;315;p35"/>
            <p:cNvSpPr txBox="1"/>
            <p:nvPr/>
          </p:nvSpPr>
          <p:spPr>
            <a:xfrm>
              <a:off x="8461663" y="1308336"/>
              <a:ext cx="341100" cy="379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chemeClr val="accent6"/>
                  </a:solidFill>
                  <a:latin typeface="Arial"/>
                  <a:ea typeface="Arial"/>
                  <a:cs typeface="Arial"/>
                  <a:sym typeface="Arial"/>
                </a:rPr>
                <a:t>➏</a:t>
              </a:r>
              <a:endParaRPr b="0" i="0" sz="1400" u="none" cap="none" strike="noStrike">
                <a:solidFill>
                  <a:schemeClr val="dk1"/>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6"/>
          <p:cNvSpPr txBox="1"/>
          <p:nvPr>
            <p:ph idx="4294967295" type="body"/>
          </p:nvPr>
        </p:nvSpPr>
        <p:spPr>
          <a:xfrm>
            <a:off x="1600200" y="4893469"/>
            <a:ext cx="6100800" cy="150000"/>
          </a:xfrm>
          <a:prstGeom prst="rect">
            <a:avLst/>
          </a:prstGeom>
          <a:noFill/>
          <a:ln>
            <a:noFill/>
          </a:ln>
        </p:spPr>
        <p:txBody>
          <a:bodyPr anchorCtr="0" anchor="t" bIns="34275" lIns="68575" spcFirstLastPara="1" rIns="68575" wrap="square" tIns="34275">
            <a:normAutofit fontScale="25000" lnSpcReduction="20000"/>
          </a:bodyPr>
          <a:lstStyle/>
          <a:p>
            <a:pPr indent="0" lvl="0" marL="0" rtl="0" algn="l">
              <a:lnSpc>
                <a:spcPct val="90000"/>
              </a:lnSpc>
              <a:spcBef>
                <a:spcPts val="0"/>
              </a:spcBef>
              <a:spcAft>
                <a:spcPts val="0"/>
              </a:spcAft>
              <a:buClr>
                <a:schemeClr val="dk1"/>
              </a:buClr>
              <a:buSzPct val="38889"/>
              <a:buNone/>
            </a:pPr>
            <a:r>
              <a:rPr lang="zh-TW"/>
              <a:t>https://www.2cm.com.tw/2cm/zh-tw/tech/2A7C08CE5B6C4A21A9BA7AF531D17AF6</a:t>
            </a:r>
            <a:endParaRPr/>
          </a:p>
          <a:p>
            <a:pPr indent="0" lvl="0" marL="0" rtl="0" algn="l">
              <a:lnSpc>
                <a:spcPct val="90000"/>
              </a:lnSpc>
              <a:spcBef>
                <a:spcPts val="800"/>
              </a:spcBef>
              <a:spcAft>
                <a:spcPts val="1200"/>
              </a:spcAft>
              <a:buClr>
                <a:schemeClr val="dk1"/>
              </a:buClr>
              <a:buSzPct val="38889"/>
              <a:buNone/>
            </a:pPr>
            <a:r>
              <a:t/>
            </a:r>
            <a:endParaRPr/>
          </a:p>
        </p:txBody>
      </p:sp>
      <p:sp>
        <p:nvSpPr>
          <p:cNvPr id="321" name="Google Shape;321;p36"/>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3C3C3B"/>
              </a:buClr>
              <a:buSzPct val="83333"/>
              <a:buFont typeface="Arial"/>
              <a:buNone/>
            </a:pPr>
            <a:r>
              <a:rPr lang="zh-TW">
                <a:solidFill>
                  <a:srgbClr val="3C3C3B"/>
                </a:solidFill>
              </a:rPr>
              <a:t>Protocol to enhance the data capacity</a:t>
            </a:r>
            <a:endParaRPr/>
          </a:p>
        </p:txBody>
      </p:sp>
      <p:sp>
        <p:nvSpPr>
          <p:cNvPr id="322" name="Google Shape;322;p36"/>
          <p:cNvSpPr txBox="1"/>
          <p:nvPr>
            <p:ph idx="4294967295" type="body"/>
          </p:nvPr>
        </p:nvSpPr>
        <p:spPr>
          <a:xfrm>
            <a:off x="292892" y="503556"/>
            <a:ext cx="8558400" cy="2601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0"/>
              </a:spcBef>
              <a:spcAft>
                <a:spcPts val="1200"/>
              </a:spcAft>
              <a:buClr>
                <a:schemeClr val="accent1"/>
              </a:buClr>
              <a:buSzPct val="83333"/>
              <a:buNone/>
            </a:pPr>
            <a:r>
              <a:rPr lang="zh-TW"/>
              <a:t>WDM, SDM, MDM, PDM</a:t>
            </a:r>
            <a:endParaRPr/>
          </a:p>
        </p:txBody>
      </p:sp>
      <p:pic>
        <p:nvPicPr>
          <p:cNvPr id="323" name="Google Shape;323;p36"/>
          <p:cNvPicPr preferRelativeResize="0"/>
          <p:nvPr/>
        </p:nvPicPr>
        <p:blipFill rotWithShape="1">
          <a:blip r:embed="rId3">
            <a:alphaModFix/>
          </a:blip>
          <a:srcRect b="0" l="0" r="0" t="0"/>
          <a:stretch/>
        </p:blipFill>
        <p:spPr>
          <a:xfrm>
            <a:off x="4453500" y="2362003"/>
            <a:ext cx="3290996" cy="1241217"/>
          </a:xfrm>
          <a:prstGeom prst="rect">
            <a:avLst/>
          </a:prstGeom>
          <a:noFill/>
          <a:ln>
            <a:noFill/>
          </a:ln>
        </p:spPr>
      </p:pic>
      <p:pic>
        <p:nvPicPr>
          <p:cNvPr id="324" name="Google Shape;324;p36"/>
          <p:cNvPicPr preferRelativeResize="0"/>
          <p:nvPr/>
        </p:nvPicPr>
        <p:blipFill rotWithShape="1">
          <a:blip r:embed="rId4">
            <a:alphaModFix/>
          </a:blip>
          <a:srcRect b="0" l="0" r="0" t="0"/>
          <a:stretch/>
        </p:blipFill>
        <p:spPr>
          <a:xfrm>
            <a:off x="586108" y="2375327"/>
            <a:ext cx="3330775" cy="1241216"/>
          </a:xfrm>
          <a:prstGeom prst="rect">
            <a:avLst/>
          </a:prstGeom>
          <a:noFill/>
          <a:ln>
            <a:noFill/>
          </a:ln>
        </p:spPr>
      </p:pic>
      <p:pic>
        <p:nvPicPr>
          <p:cNvPr id="325" name="Google Shape;325;p36"/>
          <p:cNvPicPr preferRelativeResize="0"/>
          <p:nvPr/>
        </p:nvPicPr>
        <p:blipFill rotWithShape="1">
          <a:blip r:embed="rId5">
            <a:alphaModFix/>
          </a:blip>
          <a:srcRect b="0" l="0" r="0" t="0"/>
          <a:stretch/>
        </p:blipFill>
        <p:spPr>
          <a:xfrm>
            <a:off x="4392040" y="816887"/>
            <a:ext cx="3290996" cy="1238290"/>
          </a:xfrm>
          <a:prstGeom prst="rect">
            <a:avLst/>
          </a:prstGeom>
          <a:noFill/>
          <a:ln>
            <a:noFill/>
          </a:ln>
        </p:spPr>
      </p:pic>
      <p:sp>
        <p:nvSpPr>
          <p:cNvPr id="326" name="Google Shape;326;p36"/>
          <p:cNvSpPr txBox="1"/>
          <p:nvPr/>
        </p:nvSpPr>
        <p:spPr>
          <a:xfrm>
            <a:off x="1155330" y="4189918"/>
            <a:ext cx="8244600" cy="623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0" i="0" lang="zh-TW" sz="1200" u="none" cap="none" strike="noStrike">
                <a:solidFill>
                  <a:schemeClr val="dk1"/>
                </a:solidFill>
                <a:latin typeface="Arial"/>
                <a:ea typeface="Arial"/>
                <a:cs typeface="Arial"/>
                <a:sym typeface="Arial"/>
              </a:rPr>
              <a:t>Other methods: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zh-TW" sz="1200" u="none" cap="none" strike="noStrike">
                <a:solidFill>
                  <a:schemeClr val="dk1"/>
                </a:solidFill>
                <a:latin typeface="Arial"/>
                <a:ea typeface="Arial"/>
                <a:cs typeface="Arial"/>
                <a:sym typeface="Arial"/>
              </a:rPr>
              <a:t>Advanced signal modulation techniques such as Pulse Amplitude Modulation (PAM) or Coherent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zh-TW" sz="1200" u="none" cap="none" strike="noStrike">
                <a:solidFill>
                  <a:schemeClr val="dk1"/>
                </a:solidFill>
                <a:latin typeface="Arial"/>
                <a:ea typeface="Arial"/>
                <a:cs typeface="Arial"/>
                <a:sym typeface="Arial"/>
              </a:rPr>
              <a:t>are gradually being adopted to enhance the overall transmission capacity of optical transceivers.</a:t>
            </a:r>
            <a:endParaRPr b="0" i="0" sz="1200" u="none" cap="none" strike="noStrike">
              <a:solidFill>
                <a:schemeClr val="dk1"/>
              </a:solidFill>
              <a:latin typeface="Arial"/>
              <a:ea typeface="Arial"/>
              <a:cs typeface="Arial"/>
              <a:sym typeface="Arial"/>
            </a:endParaRPr>
          </a:p>
        </p:txBody>
      </p:sp>
      <p:sp>
        <p:nvSpPr>
          <p:cNvPr id="327" name="Google Shape;327;p36"/>
          <p:cNvSpPr txBox="1"/>
          <p:nvPr/>
        </p:nvSpPr>
        <p:spPr>
          <a:xfrm>
            <a:off x="687924" y="2068358"/>
            <a:ext cx="32910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333333"/>
                </a:solidFill>
                <a:latin typeface="Arial"/>
                <a:ea typeface="Arial"/>
                <a:cs typeface="Arial"/>
                <a:sym typeface="Arial"/>
              </a:rPr>
              <a:t>WDM(</a:t>
            </a:r>
            <a:r>
              <a:rPr b="0" i="0" lang="zh-TW" sz="1400" u="none" cap="none" strike="noStrike">
                <a:solidFill>
                  <a:srgbClr val="202124"/>
                </a:solidFill>
                <a:latin typeface="Arial"/>
                <a:ea typeface="Arial"/>
                <a:cs typeface="Arial"/>
                <a:sym typeface="Arial"/>
              </a:rPr>
              <a:t>Wavelength-division multiplexing</a:t>
            </a:r>
            <a:r>
              <a:rPr b="0" i="0" lang="zh-TW" sz="1400" u="none" cap="none" strike="noStrike">
                <a:solidFill>
                  <a:srgbClr val="333333"/>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p:txBody>
      </p:sp>
      <p:sp>
        <p:nvSpPr>
          <p:cNvPr id="328" name="Google Shape;328;p36"/>
          <p:cNvSpPr txBox="1"/>
          <p:nvPr/>
        </p:nvSpPr>
        <p:spPr>
          <a:xfrm>
            <a:off x="4815074" y="2038046"/>
            <a:ext cx="2767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333333"/>
                </a:solidFill>
                <a:latin typeface="Arial"/>
                <a:ea typeface="Arial"/>
                <a:cs typeface="Arial"/>
                <a:sym typeface="Arial"/>
              </a:rPr>
              <a:t>SDM(</a:t>
            </a:r>
            <a:r>
              <a:rPr b="0" i="0" lang="zh-TW" sz="1400" u="none" cap="none" strike="noStrike">
                <a:solidFill>
                  <a:srgbClr val="202124"/>
                </a:solidFill>
                <a:latin typeface="Arial"/>
                <a:ea typeface="Arial"/>
                <a:cs typeface="Arial"/>
                <a:sym typeface="Arial"/>
              </a:rPr>
              <a:t>space-division multiplexing)</a:t>
            </a:r>
            <a:endParaRPr b="0" i="0" sz="1100" u="none" cap="none" strike="noStrike">
              <a:solidFill>
                <a:srgbClr val="000000"/>
              </a:solidFill>
              <a:latin typeface="Arial"/>
              <a:ea typeface="Arial"/>
              <a:cs typeface="Arial"/>
              <a:sym typeface="Arial"/>
            </a:endParaRPr>
          </a:p>
        </p:txBody>
      </p:sp>
      <p:sp>
        <p:nvSpPr>
          <p:cNvPr id="329" name="Google Shape;329;p36"/>
          <p:cNvSpPr txBox="1"/>
          <p:nvPr/>
        </p:nvSpPr>
        <p:spPr>
          <a:xfrm>
            <a:off x="659063" y="3608148"/>
            <a:ext cx="31848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333333"/>
                </a:solidFill>
                <a:latin typeface="Arial"/>
                <a:ea typeface="Arial"/>
                <a:cs typeface="Arial"/>
                <a:sym typeface="Arial"/>
              </a:rPr>
              <a:t>PDM(Polarization-division multiplexing)</a:t>
            </a:r>
            <a:endParaRPr b="0" i="0" sz="1400" u="none" cap="none" strike="noStrike">
              <a:solidFill>
                <a:schemeClr val="dk1"/>
              </a:solidFill>
              <a:latin typeface="Arial"/>
              <a:ea typeface="Arial"/>
              <a:cs typeface="Arial"/>
              <a:sym typeface="Arial"/>
            </a:endParaRPr>
          </a:p>
        </p:txBody>
      </p:sp>
      <p:sp>
        <p:nvSpPr>
          <p:cNvPr id="330" name="Google Shape;330;p36"/>
          <p:cNvSpPr txBox="1"/>
          <p:nvPr/>
        </p:nvSpPr>
        <p:spPr>
          <a:xfrm>
            <a:off x="4854263" y="3568958"/>
            <a:ext cx="26889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333333"/>
                </a:solidFill>
                <a:latin typeface="Arial"/>
                <a:ea typeface="Arial"/>
                <a:cs typeface="Arial"/>
                <a:sym typeface="Arial"/>
              </a:rPr>
              <a:t>MDM(Mode Division Multiplexing)</a:t>
            </a:r>
            <a:endParaRPr b="0" i="0" sz="1400" u="none" cap="none" strike="noStrike">
              <a:solidFill>
                <a:schemeClr val="dk1"/>
              </a:solidFill>
              <a:latin typeface="Arial"/>
              <a:ea typeface="Arial"/>
              <a:cs typeface="Arial"/>
              <a:sym typeface="Arial"/>
            </a:endParaRPr>
          </a:p>
        </p:txBody>
      </p:sp>
      <p:pic>
        <p:nvPicPr>
          <p:cNvPr id="331" name="Google Shape;331;p36"/>
          <p:cNvPicPr preferRelativeResize="0"/>
          <p:nvPr/>
        </p:nvPicPr>
        <p:blipFill rotWithShape="1">
          <a:blip r:embed="rId6">
            <a:alphaModFix/>
          </a:blip>
          <a:srcRect b="0" l="0" r="0" t="0"/>
          <a:stretch/>
        </p:blipFill>
        <p:spPr>
          <a:xfrm>
            <a:off x="810563" y="962345"/>
            <a:ext cx="2881838" cy="10760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id="336" name="Google Shape;336;p37"/>
          <p:cNvPicPr preferRelativeResize="0"/>
          <p:nvPr/>
        </p:nvPicPr>
        <p:blipFill rotWithShape="1">
          <a:blip r:embed="rId3">
            <a:alphaModFix/>
          </a:blip>
          <a:srcRect b="0" l="0" r="0" t="0"/>
          <a:stretch/>
        </p:blipFill>
        <p:spPr>
          <a:xfrm>
            <a:off x="5759320" y="557903"/>
            <a:ext cx="3135086" cy="2342606"/>
          </a:xfrm>
          <a:prstGeom prst="rect">
            <a:avLst/>
          </a:prstGeom>
          <a:noFill/>
          <a:ln>
            <a:noFill/>
          </a:ln>
        </p:spPr>
      </p:pic>
      <p:sp>
        <p:nvSpPr>
          <p:cNvPr id="337" name="Google Shape;337;p37"/>
          <p:cNvSpPr txBox="1"/>
          <p:nvPr>
            <p:ph idx="4294967295" type="body"/>
          </p:nvPr>
        </p:nvSpPr>
        <p:spPr>
          <a:xfrm>
            <a:off x="1600200" y="4893469"/>
            <a:ext cx="6100800" cy="150000"/>
          </a:xfrm>
          <a:prstGeom prst="rect">
            <a:avLst/>
          </a:prstGeom>
          <a:noFill/>
          <a:ln>
            <a:noFill/>
          </a:ln>
        </p:spPr>
        <p:txBody>
          <a:bodyPr anchorCtr="0" anchor="t" bIns="34275" lIns="68575" spcFirstLastPara="1" rIns="68575" wrap="square" tIns="34275">
            <a:normAutofit fontScale="40000" lnSpcReduction="20000"/>
          </a:bodyPr>
          <a:lstStyle/>
          <a:p>
            <a:pPr indent="0" lvl="0" marL="0" rtl="0" algn="l">
              <a:lnSpc>
                <a:spcPct val="90000"/>
              </a:lnSpc>
              <a:spcBef>
                <a:spcPts val="0"/>
              </a:spcBef>
              <a:spcAft>
                <a:spcPts val="1200"/>
              </a:spcAft>
              <a:buClr>
                <a:schemeClr val="dk1"/>
              </a:buClr>
              <a:buSzPct val="38889"/>
              <a:buNone/>
            </a:pPr>
            <a:r>
              <a:rPr lang="zh-TW"/>
              <a:t>應用於光通訊的矽光子元件研究 Research on Silicon Photonics Integrated Devices for Optical Communication Applications </a:t>
            </a:r>
            <a:endParaRPr/>
          </a:p>
        </p:txBody>
      </p:sp>
      <p:sp>
        <p:nvSpPr>
          <p:cNvPr id="338" name="Google Shape;338;p37"/>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Example of WDM, SDM, MDM, PDM</a:t>
            </a:r>
            <a:br>
              <a:rPr lang="zh-TW"/>
            </a:br>
            <a:r>
              <a:rPr lang="zh-TW"/>
              <a:t> </a:t>
            </a:r>
            <a:endParaRPr/>
          </a:p>
        </p:txBody>
      </p:sp>
      <p:pic>
        <p:nvPicPr>
          <p:cNvPr id="339" name="Google Shape;339;p37"/>
          <p:cNvPicPr preferRelativeResize="0"/>
          <p:nvPr/>
        </p:nvPicPr>
        <p:blipFill rotWithShape="1">
          <a:blip r:embed="rId4">
            <a:alphaModFix/>
          </a:blip>
          <a:srcRect b="0" l="0" r="0" t="0"/>
          <a:stretch/>
        </p:blipFill>
        <p:spPr>
          <a:xfrm>
            <a:off x="0" y="1192507"/>
            <a:ext cx="5619361" cy="1489860"/>
          </a:xfrm>
          <a:prstGeom prst="rect">
            <a:avLst/>
          </a:prstGeom>
          <a:noFill/>
          <a:ln>
            <a:noFill/>
          </a:ln>
        </p:spPr>
      </p:pic>
      <p:pic>
        <p:nvPicPr>
          <p:cNvPr descr="Dense Space-division-multiplexing Optical Communications Technology for  Petabit-per-second Class Transmission | NTT Technical Review" id="340" name="Google Shape;340;p37"/>
          <p:cNvPicPr preferRelativeResize="0"/>
          <p:nvPr/>
        </p:nvPicPr>
        <p:blipFill rotWithShape="1">
          <a:blip r:embed="rId5">
            <a:alphaModFix/>
          </a:blip>
          <a:srcRect b="0" l="0" r="0" t="0"/>
          <a:stretch/>
        </p:blipFill>
        <p:spPr>
          <a:xfrm>
            <a:off x="534071" y="3257286"/>
            <a:ext cx="4551220" cy="1136022"/>
          </a:xfrm>
          <a:prstGeom prst="rect">
            <a:avLst/>
          </a:prstGeom>
          <a:noFill/>
          <a:ln>
            <a:noFill/>
          </a:ln>
        </p:spPr>
      </p:pic>
      <p:sp>
        <p:nvSpPr>
          <p:cNvPr id="341" name="Google Shape;341;p37"/>
          <p:cNvSpPr txBox="1"/>
          <p:nvPr/>
        </p:nvSpPr>
        <p:spPr>
          <a:xfrm>
            <a:off x="2571602" y="2778664"/>
            <a:ext cx="703200" cy="300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zh-TW" sz="1500" u="none" cap="none" strike="noStrike">
                <a:solidFill>
                  <a:srgbClr val="333333"/>
                </a:solidFill>
                <a:latin typeface="Arial"/>
                <a:ea typeface="Arial"/>
                <a:cs typeface="Arial"/>
                <a:sym typeface="Arial"/>
              </a:rPr>
              <a:t>WDM</a:t>
            </a:r>
            <a:endParaRPr b="0" i="0" sz="1500" u="none" cap="none" strike="noStrike">
              <a:solidFill>
                <a:schemeClr val="dk1"/>
              </a:solidFill>
              <a:latin typeface="Arial"/>
              <a:ea typeface="Arial"/>
              <a:cs typeface="Arial"/>
              <a:sym typeface="Arial"/>
            </a:endParaRPr>
          </a:p>
        </p:txBody>
      </p:sp>
      <p:sp>
        <p:nvSpPr>
          <p:cNvPr id="342" name="Google Shape;342;p37"/>
          <p:cNvSpPr txBox="1"/>
          <p:nvPr/>
        </p:nvSpPr>
        <p:spPr>
          <a:xfrm>
            <a:off x="2571602" y="4430672"/>
            <a:ext cx="620700" cy="300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zh-TW" sz="1500" u="none" cap="none" strike="noStrike">
                <a:solidFill>
                  <a:srgbClr val="333333"/>
                </a:solidFill>
                <a:latin typeface="Arial"/>
                <a:ea typeface="Arial"/>
                <a:cs typeface="Arial"/>
                <a:sym typeface="Arial"/>
              </a:rPr>
              <a:t>SDM</a:t>
            </a:r>
            <a:endParaRPr b="0" i="0" sz="1500" u="none" cap="none" strike="noStrike">
              <a:solidFill>
                <a:schemeClr val="dk1"/>
              </a:solidFill>
              <a:latin typeface="Arial"/>
              <a:ea typeface="Arial"/>
              <a:cs typeface="Arial"/>
              <a:sym typeface="Arial"/>
            </a:endParaRPr>
          </a:p>
        </p:txBody>
      </p:sp>
      <p:sp>
        <p:nvSpPr>
          <p:cNvPr id="343" name="Google Shape;343;p37"/>
          <p:cNvSpPr txBox="1"/>
          <p:nvPr/>
        </p:nvSpPr>
        <p:spPr>
          <a:xfrm>
            <a:off x="1999391" y="3721051"/>
            <a:ext cx="612900" cy="300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zh-TW" sz="1500" u="none" cap="none" strike="noStrike">
                <a:solidFill>
                  <a:srgbClr val="333333"/>
                </a:solidFill>
                <a:latin typeface="Arial"/>
                <a:ea typeface="Arial"/>
                <a:cs typeface="Arial"/>
                <a:sym typeface="Arial"/>
              </a:rPr>
              <a:t>PDM</a:t>
            </a:r>
            <a:endParaRPr b="0" i="0" sz="1500" u="none" cap="none" strike="noStrike">
              <a:solidFill>
                <a:schemeClr val="dk1"/>
              </a:solidFill>
              <a:latin typeface="Arial"/>
              <a:ea typeface="Arial"/>
              <a:cs typeface="Arial"/>
              <a:sym typeface="Arial"/>
            </a:endParaRPr>
          </a:p>
        </p:txBody>
      </p:sp>
      <p:sp>
        <p:nvSpPr>
          <p:cNvPr id="344" name="Google Shape;344;p37"/>
          <p:cNvSpPr txBox="1"/>
          <p:nvPr/>
        </p:nvSpPr>
        <p:spPr>
          <a:xfrm>
            <a:off x="7115537" y="2973458"/>
            <a:ext cx="612900" cy="300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zh-TW" sz="1500" u="none" cap="none" strike="noStrike">
                <a:solidFill>
                  <a:srgbClr val="333333"/>
                </a:solidFill>
                <a:latin typeface="Arial"/>
                <a:ea typeface="Arial"/>
                <a:cs typeface="Arial"/>
                <a:sym typeface="Arial"/>
              </a:rPr>
              <a:t>MDM</a:t>
            </a:r>
            <a:endParaRPr b="0" i="0" sz="1500" u="none" cap="none" strike="noStrike">
              <a:solidFill>
                <a:schemeClr val="dk1"/>
              </a:solidFill>
              <a:latin typeface="Arial"/>
              <a:ea typeface="Arial"/>
              <a:cs typeface="Arial"/>
              <a:sym typeface="Arial"/>
            </a:endParaRPr>
          </a:p>
        </p:txBody>
      </p:sp>
      <p:pic>
        <p:nvPicPr>
          <p:cNvPr descr="Schematics of the silicon polarization independent optical tunable filter based on microring resonator. " id="345" name="Google Shape;345;p37"/>
          <p:cNvPicPr preferRelativeResize="0"/>
          <p:nvPr/>
        </p:nvPicPr>
        <p:blipFill rotWithShape="1">
          <a:blip r:embed="rId6">
            <a:alphaModFix/>
          </a:blip>
          <a:srcRect b="0" l="0" r="0" t="0"/>
          <a:stretch/>
        </p:blipFill>
        <p:spPr>
          <a:xfrm>
            <a:off x="5304452" y="3346490"/>
            <a:ext cx="2935352" cy="1210189"/>
          </a:xfrm>
          <a:prstGeom prst="rect">
            <a:avLst/>
          </a:prstGeom>
          <a:noFill/>
          <a:ln>
            <a:noFill/>
          </a:ln>
        </p:spPr>
      </p:pic>
      <p:sp>
        <p:nvSpPr>
          <p:cNvPr id="346" name="Google Shape;346;p37"/>
          <p:cNvSpPr txBox="1"/>
          <p:nvPr/>
        </p:nvSpPr>
        <p:spPr>
          <a:xfrm>
            <a:off x="6287666" y="4453756"/>
            <a:ext cx="1081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333333"/>
                </a:solidFill>
                <a:latin typeface="Arial"/>
                <a:ea typeface="Arial"/>
                <a:cs typeface="Arial"/>
                <a:sym typeface="Arial"/>
              </a:rPr>
              <a:t>PDM</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8"/>
          <p:cNvSpPr txBox="1"/>
          <p:nvPr>
            <p:ph idx="4294967295" type="body"/>
          </p:nvPr>
        </p:nvSpPr>
        <p:spPr>
          <a:xfrm>
            <a:off x="1600200" y="4893469"/>
            <a:ext cx="6100800" cy="150000"/>
          </a:xfrm>
          <a:prstGeom prst="rect">
            <a:avLst/>
          </a:prstGeom>
          <a:noFill/>
          <a:ln>
            <a:noFill/>
          </a:ln>
        </p:spPr>
        <p:txBody>
          <a:bodyPr anchorCtr="0" anchor="t" bIns="34275" lIns="68575" spcFirstLastPara="1" rIns="68575" wrap="square" tIns="34275">
            <a:normAutofit fontScale="40000" lnSpcReduction="20000"/>
          </a:bodyPr>
          <a:lstStyle/>
          <a:p>
            <a:pPr indent="0" lvl="0" marL="0" rtl="0" algn="l">
              <a:lnSpc>
                <a:spcPct val="90000"/>
              </a:lnSpc>
              <a:spcBef>
                <a:spcPts val="0"/>
              </a:spcBef>
              <a:spcAft>
                <a:spcPts val="1200"/>
              </a:spcAft>
              <a:buClr>
                <a:schemeClr val="dk1"/>
              </a:buClr>
              <a:buSzPct val="38889"/>
              <a:buNone/>
            </a:pPr>
            <a:r>
              <a:rPr lang="zh-TW"/>
              <a:t>https://www.2cm.com.tw/2cm/zh-tw/tech/2A7C08CE5B6C4A21A9BA7AF531D17AF6</a:t>
            </a:r>
            <a:endParaRPr/>
          </a:p>
        </p:txBody>
      </p:sp>
      <p:sp>
        <p:nvSpPr>
          <p:cNvPr id="352" name="Google Shape;352;p38"/>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Example of WDM, SDM, MDM, PDM</a:t>
            </a:r>
            <a:br>
              <a:rPr lang="zh-TW"/>
            </a:br>
            <a:r>
              <a:rPr lang="zh-TW"/>
              <a:t> </a:t>
            </a:r>
            <a:endParaRPr/>
          </a:p>
        </p:txBody>
      </p:sp>
      <p:sp>
        <p:nvSpPr>
          <p:cNvPr id="353" name="Google Shape;353;p38"/>
          <p:cNvSpPr txBox="1"/>
          <p:nvPr>
            <p:ph idx="4294967295" type="body"/>
          </p:nvPr>
        </p:nvSpPr>
        <p:spPr>
          <a:xfrm>
            <a:off x="292892" y="503556"/>
            <a:ext cx="8558400" cy="2601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0"/>
              </a:spcBef>
              <a:spcAft>
                <a:spcPts val="1200"/>
              </a:spcAft>
              <a:buClr>
                <a:schemeClr val="accent1"/>
              </a:buClr>
              <a:buSzPct val="83333"/>
              <a:buNone/>
            </a:pPr>
            <a:r>
              <a:rPr lang="zh-TW"/>
              <a:t>Combining various XDM is also a potential direction</a:t>
            </a:r>
            <a:endParaRPr/>
          </a:p>
        </p:txBody>
      </p:sp>
      <p:pic>
        <p:nvPicPr>
          <p:cNvPr id="354" name="Google Shape;354;p38"/>
          <p:cNvPicPr preferRelativeResize="0"/>
          <p:nvPr/>
        </p:nvPicPr>
        <p:blipFill rotWithShape="1">
          <a:blip r:embed="rId3">
            <a:alphaModFix/>
          </a:blip>
          <a:srcRect b="0" l="0" r="0" t="0"/>
          <a:stretch/>
        </p:blipFill>
        <p:spPr>
          <a:xfrm>
            <a:off x="1101887" y="770176"/>
            <a:ext cx="6599074" cy="390599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9"/>
          <p:cNvSpPr txBox="1"/>
          <p:nvPr>
            <p:ph idx="4294967295" type="body"/>
          </p:nvPr>
        </p:nvSpPr>
        <p:spPr>
          <a:xfrm>
            <a:off x="1600200" y="4893469"/>
            <a:ext cx="6100800" cy="150000"/>
          </a:xfrm>
          <a:prstGeom prst="rect">
            <a:avLst/>
          </a:prstGeom>
          <a:noFill/>
          <a:ln>
            <a:noFill/>
          </a:ln>
        </p:spPr>
        <p:txBody>
          <a:bodyPr anchorCtr="0" anchor="t" bIns="34275" lIns="68575" spcFirstLastPara="1" rIns="68575" wrap="square" tIns="34275">
            <a:normAutofit fontScale="40000" lnSpcReduction="20000"/>
          </a:bodyPr>
          <a:lstStyle/>
          <a:p>
            <a:pPr indent="0" lvl="0" marL="0" rtl="0" algn="l">
              <a:lnSpc>
                <a:spcPct val="90000"/>
              </a:lnSpc>
              <a:spcBef>
                <a:spcPts val="0"/>
              </a:spcBef>
              <a:spcAft>
                <a:spcPts val="1200"/>
              </a:spcAft>
              <a:buClr>
                <a:schemeClr val="dk1"/>
              </a:buClr>
              <a:buSzPct val="38889"/>
              <a:buNone/>
            </a:pPr>
            <a:r>
              <a:rPr lang="zh-TW"/>
              <a:t>https://ieeexplore.ieee.org/document/9049105</a:t>
            </a:r>
            <a:endParaRPr/>
          </a:p>
        </p:txBody>
      </p:sp>
      <p:sp>
        <p:nvSpPr>
          <p:cNvPr id="360" name="Google Shape;360;p39"/>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Programable PIC</a:t>
            </a:r>
            <a:endParaRPr/>
          </a:p>
        </p:txBody>
      </p:sp>
      <p:sp>
        <p:nvSpPr>
          <p:cNvPr id="361" name="Google Shape;361;p39"/>
          <p:cNvSpPr txBox="1"/>
          <p:nvPr>
            <p:ph idx="4294967295" type="body"/>
          </p:nvPr>
        </p:nvSpPr>
        <p:spPr>
          <a:xfrm>
            <a:off x="292892" y="503556"/>
            <a:ext cx="8558400" cy="2601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0"/>
              </a:spcBef>
              <a:spcAft>
                <a:spcPts val="1200"/>
              </a:spcAft>
              <a:buClr>
                <a:schemeClr val="accent1"/>
              </a:buClr>
              <a:buSzPct val="83333"/>
              <a:buNone/>
            </a:pPr>
            <a:r>
              <a:rPr lang="zh-TW"/>
              <a:t>By a lot of directional coupler we can make a lot of logical unit</a:t>
            </a:r>
            <a:endParaRPr/>
          </a:p>
        </p:txBody>
      </p:sp>
      <p:pic>
        <p:nvPicPr>
          <p:cNvPr descr="A computer screen shot of a blue and white diagram" id="362" name="Google Shape;362;p39"/>
          <p:cNvPicPr preferRelativeResize="0"/>
          <p:nvPr/>
        </p:nvPicPr>
        <p:blipFill rotWithShape="1">
          <a:blip r:embed="rId3">
            <a:alphaModFix/>
          </a:blip>
          <a:srcRect b="0" l="14540" r="18944" t="7826"/>
          <a:stretch/>
        </p:blipFill>
        <p:spPr>
          <a:xfrm>
            <a:off x="4624180" y="3787388"/>
            <a:ext cx="1714768" cy="994103"/>
          </a:xfrm>
          <a:prstGeom prst="rect">
            <a:avLst/>
          </a:prstGeom>
          <a:noFill/>
          <a:ln>
            <a:noFill/>
          </a:ln>
        </p:spPr>
      </p:pic>
      <p:pic>
        <p:nvPicPr>
          <p:cNvPr descr="Programmable photonic circuits | Nature" id="363" name="Google Shape;363;p39"/>
          <p:cNvPicPr preferRelativeResize="0"/>
          <p:nvPr/>
        </p:nvPicPr>
        <p:blipFill rotWithShape="1">
          <a:blip r:embed="rId4">
            <a:alphaModFix/>
          </a:blip>
          <a:srcRect b="0" l="0" r="0" t="0"/>
          <a:stretch/>
        </p:blipFill>
        <p:spPr>
          <a:xfrm>
            <a:off x="189860" y="1183613"/>
            <a:ext cx="3919839" cy="3135871"/>
          </a:xfrm>
          <a:prstGeom prst="rect">
            <a:avLst/>
          </a:prstGeom>
          <a:noFill/>
          <a:ln>
            <a:noFill/>
          </a:ln>
        </p:spPr>
      </p:pic>
      <p:pic>
        <p:nvPicPr>
          <p:cNvPr id="364" name="Google Shape;364;p39"/>
          <p:cNvPicPr preferRelativeResize="0"/>
          <p:nvPr/>
        </p:nvPicPr>
        <p:blipFill rotWithShape="1">
          <a:blip r:embed="rId5">
            <a:alphaModFix/>
          </a:blip>
          <a:srcRect b="0" l="0" r="0" t="0"/>
          <a:stretch/>
        </p:blipFill>
        <p:spPr>
          <a:xfrm>
            <a:off x="4318553" y="728144"/>
            <a:ext cx="4399540" cy="2949334"/>
          </a:xfrm>
          <a:prstGeom prst="rect">
            <a:avLst/>
          </a:prstGeom>
          <a:noFill/>
          <a:ln>
            <a:noFill/>
          </a:ln>
        </p:spPr>
      </p:pic>
      <p:sp>
        <p:nvSpPr>
          <p:cNvPr id="365" name="Google Shape;365;p39"/>
          <p:cNvSpPr/>
          <p:nvPr/>
        </p:nvSpPr>
        <p:spPr>
          <a:xfrm>
            <a:off x="6042408" y="2660784"/>
            <a:ext cx="342900" cy="223800"/>
          </a:xfrm>
          <a:prstGeom prst="roundRect">
            <a:avLst>
              <a:gd fmla="val 16667" name="adj"/>
            </a:avLst>
          </a:prstGeom>
          <a:noFill/>
          <a:ln cap="flat" cmpd="sng" w="38100">
            <a:solidFill>
              <a:srgbClr val="F8B308"/>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366" name="Google Shape;366;p39"/>
          <p:cNvCxnSpPr>
            <a:stCxn id="365" idx="2"/>
            <a:endCxn id="362" idx="0"/>
          </p:cNvCxnSpPr>
          <p:nvPr/>
        </p:nvCxnSpPr>
        <p:spPr>
          <a:xfrm flipH="1">
            <a:off x="5481558" y="2884584"/>
            <a:ext cx="732300" cy="902700"/>
          </a:xfrm>
          <a:prstGeom prst="straightConnector1">
            <a:avLst/>
          </a:prstGeom>
          <a:noFill/>
          <a:ln cap="flat" cmpd="sng" w="76200">
            <a:solidFill>
              <a:srgbClr val="FFC000"/>
            </a:solidFill>
            <a:prstDash val="solid"/>
            <a:miter lim="800000"/>
            <a:headEnd len="sm" w="sm" type="none"/>
            <a:tailEnd len="med" w="med" type="triangle"/>
          </a:ln>
        </p:spPr>
      </p:cxnSp>
      <p:sp>
        <p:nvSpPr>
          <p:cNvPr id="367" name="Google Shape;367;p39"/>
          <p:cNvSpPr txBox="1"/>
          <p:nvPr/>
        </p:nvSpPr>
        <p:spPr>
          <a:xfrm>
            <a:off x="6385308" y="4003601"/>
            <a:ext cx="2211000" cy="623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900"/>
              <a:buFont typeface="Arial"/>
              <a:buNone/>
            </a:pPr>
            <a:r>
              <a:rPr b="0" i="0" lang="zh-TW" sz="900" u="none" cap="none" strike="noStrike">
                <a:solidFill>
                  <a:schemeClr val="dk1"/>
                </a:solidFill>
                <a:latin typeface="Arial"/>
                <a:ea typeface="Arial"/>
                <a:cs typeface="Arial"/>
                <a:sym typeface="Arial"/>
              </a:rPr>
              <a:t>Each coupler is programable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zh-TW" sz="900" u="none" cap="none" strike="noStrike">
                <a:solidFill>
                  <a:schemeClr val="dk1"/>
                </a:solidFill>
                <a:latin typeface="Arial"/>
                <a:ea typeface="Arial"/>
                <a:cs typeface="Arial"/>
                <a:sym typeface="Arial"/>
              </a:rPr>
              <a:t>Left is its mechanism.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zh-TW" sz="900" u="none" cap="none" strike="noStrike">
                <a:solidFill>
                  <a:schemeClr val="dk1"/>
                </a:solidFill>
                <a:latin typeface="Arial"/>
                <a:ea typeface="Arial"/>
                <a:cs typeface="Arial"/>
                <a:sym typeface="Arial"/>
              </a:rPr>
              <a:t>We can change its coupling</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zh-TW" sz="900" u="none" cap="none" strike="noStrike">
                <a:solidFill>
                  <a:schemeClr val="dk1"/>
                </a:solidFill>
                <a:latin typeface="Arial"/>
                <a:ea typeface="Arial"/>
                <a:cs typeface="Arial"/>
                <a:sym typeface="Arial"/>
              </a:rPr>
              <a:t>by tuning the space between two traces.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pic>
        <p:nvPicPr>
          <p:cNvPr id="373" name="Google Shape;373;p40"/>
          <p:cNvPicPr preferRelativeResize="0"/>
          <p:nvPr/>
        </p:nvPicPr>
        <p:blipFill rotWithShape="1">
          <a:blip r:embed="rId3">
            <a:alphaModFix/>
          </a:blip>
          <a:srcRect b="39041" l="12972" r="11738" t="39273"/>
          <a:stretch/>
        </p:blipFill>
        <p:spPr>
          <a:xfrm>
            <a:off x="1002000" y="663800"/>
            <a:ext cx="5579526" cy="2858375"/>
          </a:xfrm>
          <a:prstGeom prst="rect">
            <a:avLst/>
          </a:prstGeom>
          <a:noFill/>
          <a:ln>
            <a:noFill/>
          </a:ln>
        </p:spPr>
      </p:pic>
      <p:pic>
        <p:nvPicPr>
          <p:cNvPr id="374" name="Google Shape;374;p40"/>
          <p:cNvPicPr preferRelativeResize="0"/>
          <p:nvPr/>
        </p:nvPicPr>
        <p:blipFill>
          <a:blip r:embed="rId4">
            <a:alphaModFix/>
          </a:blip>
          <a:stretch>
            <a:fillRect/>
          </a:stretch>
        </p:blipFill>
        <p:spPr>
          <a:xfrm>
            <a:off x="6257526" y="1113275"/>
            <a:ext cx="2257674" cy="183643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1"/>
          <p:cNvSpPr txBox="1"/>
          <p:nvPr>
            <p:ph idx="4294967295" type="title"/>
          </p:nvPr>
        </p:nvSpPr>
        <p:spPr>
          <a:xfrm>
            <a:off x="-1" y="0"/>
            <a:ext cx="9144000" cy="4971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rgbClr val="243748"/>
              </a:buClr>
              <a:buSzPct val="83333"/>
              <a:buFont typeface="Arial"/>
              <a:buNone/>
            </a:pPr>
            <a:r>
              <a:rPr lang="zh-TW"/>
              <a:t>Waveguide</a:t>
            </a:r>
            <a:endParaRPr/>
          </a:p>
        </p:txBody>
      </p:sp>
      <p:sp>
        <p:nvSpPr>
          <p:cNvPr id="380" name="Google Shape;380;p41"/>
          <p:cNvSpPr txBox="1"/>
          <p:nvPr>
            <p:ph idx="4294967295" type="body"/>
          </p:nvPr>
        </p:nvSpPr>
        <p:spPr>
          <a:xfrm>
            <a:off x="292892" y="503556"/>
            <a:ext cx="8558400" cy="2601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0"/>
              </a:spcBef>
              <a:spcAft>
                <a:spcPts val="1200"/>
              </a:spcAft>
              <a:buClr>
                <a:schemeClr val="accent1"/>
              </a:buClr>
              <a:buSzPct val="83333"/>
              <a:buNone/>
            </a:pPr>
            <a:r>
              <a:rPr lang="zh-TW"/>
              <a:t>SWG waveguide</a:t>
            </a:r>
            <a:endParaRPr/>
          </a:p>
        </p:txBody>
      </p:sp>
      <p:pic>
        <p:nvPicPr>
          <p:cNvPr id="381" name="Google Shape;381;p41"/>
          <p:cNvPicPr preferRelativeResize="0"/>
          <p:nvPr/>
        </p:nvPicPr>
        <p:blipFill rotWithShape="1">
          <a:blip r:embed="rId3">
            <a:alphaModFix/>
          </a:blip>
          <a:srcRect b="0" l="0" r="0" t="0"/>
          <a:stretch/>
        </p:blipFill>
        <p:spPr>
          <a:xfrm>
            <a:off x="4227902" y="1907754"/>
            <a:ext cx="4419008" cy="2584045"/>
          </a:xfrm>
          <a:prstGeom prst="rect">
            <a:avLst/>
          </a:prstGeom>
          <a:noFill/>
          <a:ln>
            <a:noFill/>
          </a:ln>
        </p:spPr>
      </p:pic>
      <p:pic>
        <p:nvPicPr>
          <p:cNvPr id="382" name="Google Shape;382;p41"/>
          <p:cNvPicPr preferRelativeResize="0"/>
          <p:nvPr/>
        </p:nvPicPr>
        <p:blipFill rotWithShape="1">
          <a:blip r:embed="rId4">
            <a:alphaModFix/>
          </a:blip>
          <a:srcRect b="0" l="0" r="0" t="0"/>
          <a:stretch/>
        </p:blipFill>
        <p:spPr>
          <a:xfrm>
            <a:off x="497090" y="1784212"/>
            <a:ext cx="3430107" cy="2876864"/>
          </a:xfrm>
          <a:prstGeom prst="rect">
            <a:avLst/>
          </a:prstGeom>
          <a:noFill/>
          <a:ln>
            <a:noFill/>
          </a:ln>
        </p:spPr>
      </p:pic>
      <p:sp>
        <p:nvSpPr>
          <p:cNvPr id="383" name="Google Shape;383;p41"/>
          <p:cNvSpPr txBox="1"/>
          <p:nvPr/>
        </p:nvSpPr>
        <p:spPr>
          <a:xfrm>
            <a:off x="3927198" y="519650"/>
            <a:ext cx="46539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74151"/>
              </a:solidFill>
              <a:latin typeface="Arial"/>
              <a:ea typeface="Arial"/>
              <a:cs typeface="Arial"/>
              <a:sym typeface="Arial"/>
            </a:endParaRPr>
          </a:p>
        </p:txBody>
      </p:sp>
      <p:sp>
        <p:nvSpPr>
          <p:cNvPr id="384" name="Google Shape;384;p41"/>
          <p:cNvSpPr txBox="1"/>
          <p:nvPr/>
        </p:nvSpPr>
        <p:spPr>
          <a:xfrm>
            <a:off x="292892" y="775115"/>
            <a:ext cx="6570600" cy="1362300"/>
          </a:xfrm>
          <a:prstGeom prst="rect">
            <a:avLst/>
          </a:prstGeom>
          <a:noFill/>
          <a:ln>
            <a:noFill/>
          </a:ln>
        </p:spPr>
        <p:txBody>
          <a:bodyPr anchorCtr="0" anchor="t" bIns="34275" lIns="68575" spcFirstLastPara="1" rIns="68575" wrap="square" tIns="34275">
            <a:spAutoFit/>
          </a:bodyPr>
          <a:lstStyle/>
          <a:p>
            <a:pPr indent="-215900" lvl="0" marL="215900" marR="0" rtl="0" algn="l">
              <a:lnSpc>
                <a:spcPct val="100000"/>
              </a:lnSpc>
              <a:spcBef>
                <a:spcPts val="0"/>
              </a:spcBef>
              <a:spcAft>
                <a:spcPts val="0"/>
              </a:spcAft>
              <a:buClr>
                <a:srgbClr val="374151"/>
              </a:buClr>
              <a:buSzPts val="1400"/>
              <a:buFont typeface="Arial"/>
              <a:buChar char="•"/>
            </a:pPr>
            <a:r>
              <a:rPr b="0" i="0" lang="zh-TW" sz="1400" u="none" cap="none" strike="noStrike">
                <a:solidFill>
                  <a:srgbClr val="374151"/>
                </a:solidFill>
                <a:latin typeface="Arial"/>
                <a:ea typeface="Arial"/>
                <a:cs typeface="Arial"/>
                <a:sym typeface="Arial"/>
              </a:rPr>
              <a:t>SWG waveguides have a periodicity below the Bragg condition</a:t>
            </a:r>
            <a:endParaRPr b="0" i="0" sz="1100" u="none" cap="none" strike="noStrike">
              <a:solidFill>
                <a:srgbClr val="000000"/>
              </a:solidFill>
              <a:latin typeface="Arial"/>
              <a:ea typeface="Arial"/>
              <a:cs typeface="Arial"/>
              <a:sym typeface="Arial"/>
            </a:endParaRPr>
          </a:p>
          <a:p>
            <a:pPr indent="-215900" lvl="0" marL="215900" marR="0" rtl="0" algn="l">
              <a:lnSpc>
                <a:spcPct val="100000"/>
              </a:lnSpc>
              <a:spcBef>
                <a:spcPts val="0"/>
              </a:spcBef>
              <a:spcAft>
                <a:spcPts val="0"/>
              </a:spcAft>
              <a:buClr>
                <a:srgbClr val="374151"/>
              </a:buClr>
              <a:buSzPts val="1400"/>
              <a:buFont typeface="Arial"/>
              <a:buChar char="•"/>
            </a:pPr>
            <a:r>
              <a:rPr b="0" i="0" lang="zh-TW" sz="1400" u="none" cap="none" strike="noStrike">
                <a:solidFill>
                  <a:srgbClr val="374151"/>
                </a:solidFill>
                <a:latin typeface="Arial"/>
                <a:ea typeface="Arial"/>
                <a:cs typeface="Arial"/>
                <a:sym typeface="Arial"/>
              </a:rPr>
              <a:t>Can adjusts refractive index and dispersion without altering fabrication thickness.</a:t>
            </a:r>
            <a:endParaRPr b="0" i="0" sz="1100" u="none" cap="none" strike="noStrike">
              <a:solidFill>
                <a:srgbClr val="000000"/>
              </a:solidFill>
              <a:latin typeface="Arial"/>
              <a:ea typeface="Arial"/>
              <a:cs typeface="Arial"/>
              <a:sym typeface="Arial"/>
            </a:endParaRPr>
          </a:p>
          <a:p>
            <a:pPr indent="-215900" lvl="0" marL="215900" marR="0" rtl="0" algn="l">
              <a:lnSpc>
                <a:spcPct val="100000"/>
              </a:lnSpc>
              <a:spcBef>
                <a:spcPts val="0"/>
              </a:spcBef>
              <a:spcAft>
                <a:spcPts val="0"/>
              </a:spcAft>
              <a:buClr>
                <a:srgbClr val="374151"/>
              </a:buClr>
              <a:buSzPts val="1400"/>
              <a:buFont typeface="Arial"/>
              <a:buChar char="•"/>
            </a:pPr>
            <a:r>
              <a:rPr b="0" i="0" lang="zh-TW" sz="1400" u="none" cap="none" strike="noStrike">
                <a:solidFill>
                  <a:srgbClr val="374151"/>
                </a:solidFill>
                <a:latin typeface="Arial"/>
                <a:ea typeface="Arial"/>
                <a:cs typeface="Arial"/>
                <a:sym typeface="Arial"/>
              </a:rPr>
              <a:t>Used for various optical functions like polarization control and wavelength filtering.</a:t>
            </a:r>
            <a:endParaRPr b="0" i="0" sz="1100" u="none" cap="none" strike="noStrike">
              <a:solidFill>
                <a:srgbClr val="000000"/>
              </a:solidFill>
              <a:latin typeface="Arial"/>
              <a:ea typeface="Arial"/>
              <a:cs typeface="Arial"/>
              <a:sym typeface="Arial"/>
            </a:endParaRPr>
          </a:p>
          <a:p>
            <a:pPr indent="-215900" lvl="0" marL="215900" marR="0" rtl="0" algn="l">
              <a:lnSpc>
                <a:spcPct val="100000"/>
              </a:lnSpc>
              <a:spcBef>
                <a:spcPts val="0"/>
              </a:spcBef>
              <a:spcAft>
                <a:spcPts val="0"/>
              </a:spcAft>
              <a:buClr>
                <a:srgbClr val="374151"/>
              </a:buClr>
              <a:buSzPts val="1400"/>
              <a:buFont typeface="Arial"/>
              <a:buChar char="•"/>
            </a:pPr>
            <a:r>
              <a:rPr b="0" i="0" lang="zh-TW" sz="1400" u="none" cap="none" strike="noStrike">
                <a:solidFill>
                  <a:srgbClr val="374151"/>
                </a:solidFill>
                <a:latin typeface="Arial"/>
                <a:ea typeface="Arial"/>
                <a:cs typeface="Arial"/>
                <a:sym typeface="Arial"/>
              </a:rPr>
              <a:t>Uses Bloch mode for low-loss light transmission.</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pic>
        <p:nvPicPr>
          <p:cNvPr id="389" name="Google Shape;389;p42"/>
          <p:cNvPicPr preferRelativeResize="0"/>
          <p:nvPr/>
        </p:nvPicPr>
        <p:blipFill>
          <a:blip r:embed="rId3">
            <a:alphaModFix/>
          </a:blip>
          <a:stretch>
            <a:fillRect/>
          </a:stretch>
        </p:blipFill>
        <p:spPr>
          <a:xfrm>
            <a:off x="531848" y="391750"/>
            <a:ext cx="3349900" cy="4360001"/>
          </a:xfrm>
          <a:prstGeom prst="rect">
            <a:avLst/>
          </a:prstGeom>
          <a:noFill/>
          <a:ln>
            <a:noFill/>
          </a:ln>
        </p:spPr>
      </p:pic>
      <p:sp>
        <p:nvSpPr>
          <p:cNvPr id="390" name="Google Shape;390;p42"/>
          <p:cNvSpPr txBox="1"/>
          <p:nvPr/>
        </p:nvSpPr>
        <p:spPr>
          <a:xfrm>
            <a:off x="4379500" y="1155025"/>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u="sng">
                <a:solidFill>
                  <a:schemeClr val="hlink"/>
                </a:solidFill>
                <a:hlinkClick r:id="rId4"/>
              </a:rPr>
              <a:t>https://www.pida.org.tw/main/article_show/0279</a:t>
            </a:r>
            <a:endParaRPr/>
          </a:p>
          <a:p>
            <a:pPr indent="0" lvl="0" marL="0" rtl="0" algn="l">
              <a:spcBef>
                <a:spcPts val="0"/>
              </a:spcBef>
              <a:spcAft>
                <a:spcPts val="0"/>
              </a:spcAft>
              <a:buNone/>
            </a:pPr>
            <a:r>
              <a:t/>
            </a:r>
            <a:endParaRPr/>
          </a:p>
        </p:txBody>
      </p:sp>
      <p:sp>
        <p:nvSpPr>
          <p:cNvPr id="391" name="Google Shape;391;p42"/>
          <p:cNvSpPr txBox="1"/>
          <p:nvPr/>
        </p:nvSpPr>
        <p:spPr>
          <a:xfrm>
            <a:off x="4379500" y="1694050"/>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u="sng">
                <a:solidFill>
                  <a:schemeClr val="hlink"/>
                </a:solidFill>
                <a:hlinkClick r:id="rId5"/>
              </a:rPr>
              <a:t>https://www.degruyter.com/document/doi/10.1515/nanoph-2020-0309/html</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